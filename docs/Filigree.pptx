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8288000" cy="10287000"/>
  <p:notesSz cx="6858000" cy="9144000"/>
  <p:embeddedFontLst>
    <p:embeddedFont>
      <p:font typeface="Calibri" panose="020F0502020204030204" pitchFamily="34" charset="0"/>
      <p:regular r:id="rId10"/>
      <p:bold r:id="rId11"/>
      <p:italic r:id="rId12"/>
      <p:boldItalic r:id="rId13"/>
    </p:embeddedFont>
    <p:embeddedFont>
      <p:font typeface="Times" panose="02020603050405020304" pitchFamily="18" charset="0"/>
      <p:regular r:id="rId14"/>
      <p:bold r:id="rId15"/>
      <p:italic r:id="rId16"/>
      <p:boldItalic r:id="rId17"/>
    </p:embeddedFont>
    <p:embeddedFont>
      <p:font typeface="Playfair Display SemiBold" panose="020B0604020202020204" charset="0"/>
      <p:regular r:id="rId18"/>
      <p:bold r:id="rId19"/>
      <p:italic r:id="rId20"/>
      <p:boldItalic r:id="rId2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2" roundtripDataSignature="AMtx7mhRct6WhpjnLYkE824ii1GYaFHas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1" d="100"/>
          <a:sy n="61" d="100"/>
        </p:scale>
        <p:origin x="21" y="57"/>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4.fntdata"/><Relationship Id="rId18" Type="http://schemas.openxmlformats.org/officeDocument/2006/relationships/font" Target="fonts/font9.fntdata"/><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12.fntdata"/><Relationship Id="rId7" Type="http://schemas.openxmlformats.org/officeDocument/2006/relationships/slide" Target="slides/slide6.xml"/><Relationship Id="rId12" Type="http://schemas.openxmlformats.org/officeDocument/2006/relationships/font" Target="fonts/font3.fntdata"/><Relationship Id="rId17" Type="http://schemas.openxmlformats.org/officeDocument/2006/relationships/font" Target="fonts/font8.fntdata"/><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font" Target="fonts/font7.fntdata"/><Relationship Id="rId20" Type="http://schemas.openxmlformats.org/officeDocument/2006/relationships/font" Target="fonts/font1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2.fntdata"/><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font" Target="fonts/font6.fntdata"/><Relationship Id="rId23" Type="http://schemas.openxmlformats.org/officeDocument/2006/relationships/presProps" Target="presProps.xml"/><Relationship Id="rId10" Type="http://schemas.openxmlformats.org/officeDocument/2006/relationships/font" Target="fonts/font1.fntdata"/><Relationship Id="rId19" Type="http://schemas.openxmlformats.org/officeDocument/2006/relationships/font" Target="fonts/font10.fntdata"/><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font" Target="fonts/font5.fntdata"/><Relationship Id="rId22"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Hook: imagine approving search_documents. On your screen it's identical to the harmless version, but the model receives an extra instruction to read credentials and send them out. You approved the tool, not that instruction. Filigree makes that difference visible and enforceable. Key line: Filigree doesn't ask whether a tool is safe; it verifies the AI can only act on what the human actually approved. Sources: invariantlabs.ai/blog/mcp-security-notification (Apr 1 2025); owasp.org/www-project-mcp-top-10 (MCP03:2025 Tool Poisoning).</a:t>
            </a:r>
          </a:p>
        </p:txBody>
      </p:sp>
      <p:sp>
        <p:nvSpPr>
          <p:cNvPr id="123" name="Google Shape;123;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Python core because the security logic is JSON, hashing and LLM SDK work; React because the story is visual. Key design choice: a controlled reference agent whose tool registry is fed ONLY by the canonical object Filigree produces. So the object that is shown, analyzed, hashed and approved is provably the object the model gets. There is exactly one execution path, through the gate.</a:t>
            </a:r>
          </a:p>
        </p:txBody>
      </p:sp>
      <p:sp>
        <p:nvSpPr>
          <p:cNvPr id="130" name="Google Shape;130;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Walk left to right. Two points judges probe: (1) we never normalise strings before hashing, because stripping invisible characters would hide the attack; (2) the LLM is hardened against prompt injection from the tool text itself, and even if it is fooled, scanner findings and hash drift are deterministic and cannot be overridden.</a:t>
            </a:r>
          </a:p>
        </p:txBody>
      </p:sp>
      <p:sp>
        <p:nvSpPr>
          <p:cNvPr id="137" name="Google Shape;137;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Top lane happens once per tool version: capture, analyze, human review, approval stored against the fingerprint. Bottom lane happens on every single call: the gate fetches the live definition again, hashes it, and compares it with the approved hash before anything is forwarded. A rug pull is caught at the moment it matters, not on the next manual scan. Every decision lands in a hash-chained audit log.</a:t>
            </a:r>
          </a:p>
        </p:txBody>
      </p:sp>
      <p:sp>
        <p:nvSpPr>
          <p:cNvPr id="143" name="Google Shape;143;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Three screenshots, each readable on its own. A: the poisoned tool looks identical to the benign one on the left; on the right, the hidden Unicode tag characters are made visible and decoded. B: scripted agent without Filigree leaks the mock .env; with Filigree the approval is blocked before execution. C: a tool approved earlier changed its description; fingerprints no longer match, approval is invalid, and the diff shows exactly what changed.</a:t>
            </a:r>
          </a:p>
        </p:txBody>
      </p:sp>
      <p:sp>
        <p:nvSpPr>
          <p:cNvPr id="150" name="Google Shape;150;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dirty="0"/>
              <a:t>Close on differentiation and honesty. Expected judge questions: Why not a gateway? (we make the approved object explicit and bind execution to it). What if the LLM is fooled? (integrity never depends on it). What if </a:t>
            </a:r>
            <a:r>
              <a:rPr dirty="0" err="1"/>
              <a:t>behaviour</a:t>
            </a:r>
            <a:r>
              <a:rPr dirty="0"/>
              <a:t> changes but the manifest doesn't? (out of scope, stated here).</a:t>
            </a:r>
          </a:p>
        </p:txBody>
      </p:sp>
      <p:sp>
        <p:nvSpPr>
          <p:cNvPr id="157" name="Google Shape;157;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10"/>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10"/>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1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12"/>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12"/>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1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13"/>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13"/>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1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1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1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1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14"/>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14"/>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14"/>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14"/>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1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1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1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1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1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1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1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16"/>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16"/>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16"/>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1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1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1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7"/>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7"/>
          <p:cNvSpPr>
            <a:spLocks noGrp="1"/>
          </p:cNvSpPr>
          <p:nvPr>
            <p:ph type="pic" idx="2"/>
          </p:nvPr>
        </p:nvSpPr>
        <p:spPr>
          <a:xfrm>
            <a:off x="1792288" y="612775"/>
            <a:ext cx="5486400" cy="4114800"/>
          </a:xfrm>
          <a:prstGeom prst="rect">
            <a:avLst/>
          </a:prstGeom>
          <a:noFill/>
          <a:ln>
            <a:noFill/>
          </a:ln>
        </p:spPr>
      </p:sp>
      <p:sp>
        <p:nvSpPr>
          <p:cNvPr id="64" name="Google Shape;64;p17"/>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8"/>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9"/>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9"/>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8"/>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18" Type="http://schemas.openxmlformats.org/officeDocument/2006/relationships/image" Target="../media/image16.png"/><Relationship Id="rId3" Type="http://schemas.openxmlformats.org/officeDocument/2006/relationships/image" Target="../media/image1.jpg"/><Relationship Id="rId7" Type="http://schemas.openxmlformats.org/officeDocument/2006/relationships/image" Target="../media/image5.png"/><Relationship Id="rId12" Type="http://schemas.openxmlformats.org/officeDocument/2006/relationships/image" Target="../media/image10.png"/><Relationship Id="rId17" Type="http://schemas.openxmlformats.org/officeDocument/2006/relationships/image" Target="../media/image15.png"/><Relationship Id="rId2" Type="http://schemas.openxmlformats.org/officeDocument/2006/relationships/notesSlide" Target="../notesSlides/notesSlide1.xml"/><Relationship Id="rId16" Type="http://schemas.openxmlformats.org/officeDocument/2006/relationships/image" Target="../media/image14.png"/><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1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hyperlink" Target="https://github.com/prathampai-college/filigree" TargetMode="Externa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l="-7180" t="-19076" r="-3000" b="-11427"/>
            </a:stretch>
          </a:blipFill>
          <a:ln>
            <a:noFill/>
          </a:ln>
        </p:spPr>
        <p:txBody>
          <a:bodyPr/>
          <a:lstStyle/>
          <a:p>
            <a:endParaRPr/>
          </a:p>
        </p:txBody>
      </p:sp>
      <p:sp>
        <p:nvSpPr>
          <p:cNvPr id="85" name="Google Shape;85;p1"/>
          <p:cNvSpPr/>
          <p:nvPr/>
        </p:nvSpPr>
        <p:spPr>
          <a:xfrm>
            <a:off x="5317038" y="-4518398"/>
            <a:ext cx="22188662" cy="18920878"/>
          </a:xfrm>
          <a:custGeom>
            <a:avLst/>
            <a:gdLst/>
            <a:ahLst/>
            <a:cxnLst/>
            <a:rect l="l" t="t" r="r" b="b"/>
            <a:pathLst>
              <a:path w="22188662" h="18920878" extrusionOk="0">
                <a:moveTo>
                  <a:pt x="0" y="0"/>
                </a:moveTo>
                <a:lnTo>
                  <a:pt x="22188663" y="0"/>
                </a:lnTo>
                <a:lnTo>
                  <a:pt x="22188663" y="18920878"/>
                </a:lnTo>
                <a:lnTo>
                  <a:pt x="0" y="18920878"/>
                </a:lnTo>
                <a:lnTo>
                  <a:pt x="0" y="0"/>
                </a:lnTo>
                <a:close/>
              </a:path>
            </a:pathLst>
          </a:custGeom>
          <a:blipFill rotWithShape="1">
            <a:blip r:embed="rId4">
              <a:alphaModFix/>
            </a:blip>
            <a:stretch>
              <a:fillRect/>
            </a:stretch>
          </a:blipFill>
          <a:ln>
            <a:noFill/>
          </a:ln>
        </p:spPr>
        <p:txBody>
          <a:bodyPr/>
          <a:lstStyle/>
          <a:p>
            <a:endParaRPr/>
          </a:p>
        </p:txBody>
      </p:sp>
      <p:sp>
        <p:nvSpPr>
          <p:cNvPr id="86" name="Google Shape;86;p1"/>
          <p:cNvSpPr/>
          <p:nvPr/>
        </p:nvSpPr>
        <p:spPr>
          <a:xfrm>
            <a:off x="1274325" y="307375"/>
            <a:ext cx="14692810" cy="1101598"/>
          </a:xfrm>
          <a:custGeom>
            <a:avLst/>
            <a:gdLst/>
            <a:ahLst/>
            <a:cxnLst/>
            <a:rect l="l" t="t" r="r" b="b"/>
            <a:pathLst>
              <a:path w="14127702" h="1101598" extrusionOk="0">
                <a:moveTo>
                  <a:pt x="0" y="0"/>
                </a:moveTo>
                <a:lnTo>
                  <a:pt x="14127702" y="0"/>
                </a:lnTo>
                <a:lnTo>
                  <a:pt x="14127702" y="1101598"/>
                </a:lnTo>
                <a:lnTo>
                  <a:pt x="0" y="1101598"/>
                </a:lnTo>
                <a:lnTo>
                  <a:pt x="0" y="0"/>
                </a:lnTo>
                <a:close/>
              </a:path>
            </a:pathLst>
          </a:custGeom>
          <a:blipFill rotWithShape="1">
            <a:blip r:embed="rId5">
              <a:alphaModFix/>
            </a:blip>
            <a:stretch>
              <a:fillRect l="-953" t="-10072" r="-12923" b="-10072"/>
            </a:stretch>
          </a:blipFill>
          <a:ln>
            <a:noFill/>
          </a:ln>
        </p:spPr>
        <p:txBody>
          <a:bodyPr/>
          <a:lstStyle/>
          <a:p>
            <a:endParaRPr/>
          </a:p>
        </p:txBody>
      </p:sp>
      <p:sp>
        <p:nvSpPr>
          <p:cNvPr id="87" name="Google Shape;87;p1"/>
          <p:cNvSpPr/>
          <p:nvPr/>
        </p:nvSpPr>
        <p:spPr>
          <a:xfrm>
            <a:off x="1591320" y="362859"/>
            <a:ext cx="610238" cy="832142"/>
          </a:xfrm>
          <a:custGeom>
            <a:avLst/>
            <a:gdLst/>
            <a:ahLst/>
            <a:cxnLst/>
            <a:rect l="l" t="t" r="r" b="b"/>
            <a:pathLst>
              <a:path w="610238" h="832142" extrusionOk="0">
                <a:moveTo>
                  <a:pt x="0" y="0"/>
                </a:moveTo>
                <a:lnTo>
                  <a:pt x="610237" y="0"/>
                </a:lnTo>
                <a:lnTo>
                  <a:pt x="610237" y="832142"/>
                </a:lnTo>
                <a:lnTo>
                  <a:pt x="0" y="832142"/>
                </a:lnTo>
                <a:lnTo>
                  <a:pt x="0" y="0"/>
                </a:lnTo>
                <a:close/>
              </a:path>
            </a:pathLst>
          </a:custGeom>
          <a:blipFill rotWithShape="1">
            <a:blip r:embed="rId6">
              <a:alphaModFix/>
            </a:blip>
            <a:stretch>
              <a:fillRect/>
            </a:stretch>
          </a:blipFill>
          <a:ln>
            <a:noFill/>
          </a:ln>
        </p:spPr>
        <p:txBody>
          <a:bodyPr/>
          <a:lstStyle/>
          <a:p>
            <a:endParaRPr/>
          </a:p>
        </p:txBody>
      </p:sp>
      <p:sp>
        <p:nvSpPr>
          <p:cNvPr id="88" name="Google Shape;88;p1"/>
          <p:cNvSpPr/>
          <p:nvPr/>
        </p:nvSpPr>
        <p:spPr>
          <a:xfrm>
            <a:off x="4415789" y="372692"/>
            <a:ext cx="901250" cy="901250"/>
          </a:xfrm>
          <a:custGeom>
            <a:avLst/>
            <a:gdLst/>
            <a:ahLst/>
            <a:cxnLst/>
            <a:rect l="l" t="t" r="r" b="b"/>
            <a:pathLst>
              <a:path w="901250" h="901250" extrusionOk="0">
                <a:moveTo>
                  <a:pt x="0" y="0"/>
                </a:moveTo>
                <a:lnTo>
                  <a:pt x="901249" y="0"/>
                </a:lnTo>
                <a:lnTo>
                  <a:pt x="901249" y="901249"/>
                </a:lnTo>
                <a:lnTo>
                  <a:pt x="0" y="901249"/>
                </a:lnTo>
                <a:lnTo>
                  <a:pt x="0" y="0"/>
                </a:lnTo>
                <a:close/>
              </a:path>
            </a:pathLst>
          </a:custGeom>
          <a:blipFill rotWithShape="1">
            <a:blip r:embed="rId7">
              <a:alphaModFix/>
            </a:blip>
            <a:stretch>
              <a:fillRect/>
            </a:stretch>
          </a:blipFill>
          <a:ln>
            <a:noFill/>
          </a:ln>
        </p:spPr>
        <p:txBody>
          <a:bodyPr/>
          <a:lstStyle/>
          <a:p>
            <a:endParaRPr/>
          </a:p>
        </p:txBody>
      </p:sp>
      <p:sp>
        <p:nvSpPr>
          <p:cNvPr id="89" name="Google Shape;89;p1"/>
          <p:cNvSpPr/>
          <p:nvPr/>
        </p:nvSpPr>
        <p:spPr>
          <a:xfrm>
            <a:off x="13628758" y="488306"/>
            <a:ext cx="1172861" cy="616220"/>
          </a:xfrm>
          <a:custGeom>
            <a:avLst/>
            <a:gdLst/>
            <a:ahLst/>
            <a:cxnLst/>
            <a:rect l="l" t="t" r="r" b="b"/>
            <a:pathLst>
              <a:path w="1172861" h="616220" extrusionOk="0">
                <a:moveTo>
                  <a:pt x="0" y="0"/>
                </a:moveTo>
                <a:lnTo>
                  <a:pt x="1172860" y="0"/>
                </a:lnTo>
                <a:lnTo>
                  <a:pt x="1172860" y="616220"/>
                </a:lnTo>
                <a:lnTo>
                  <a:pt x="0" y="616220"/>
                </a:lnTo>
                <a:lnTo>
                  <a:pt x="0" y="0"/>
                </a:lnTo>
                <a:close/>
              </a:path>
            </a:pathLst>
          </a:custGeom>
          <a:blipFill rotWithShape="1">
            <a:blip r:embed="rId8">
              <a:alphaModFix/>
            </a:blip>
            <a:stretch>
              <a:fillRect/>
            </a:stretch>
          </a:blipFill>
          <a:ln>
            <a:noFill/>
          </a:ln>
        </p:spPr>
        <p:txBody>
          <a:bodyPr/>
          <a:lstStyle/>
          <a:p>
            <a:endParaRPr/>
          </a:p>
        </p:txBody>
      </p:sp>
      <p:sp>
        <p:nvSpPr>
          <p:cNvPr id="90" name="Google Shape;90;p1"/>
          <p:cNvSpPr/>
          <p:nvPr/>
        </p:nvSpPr>
        <p:spPr>
          <a:xfrm>
            <a:off x="5926638" y="538306"/>
            <a:ext cx="1721890" cy="626142"/>
          </a:xfrm>
          <a:custGeom>
            <a:avLst/>
            <a:gdLst/>
            <a:ahLst/>
            <a:cxnLst/>
            <a:rect l="l" t="t" r="r" b="b"/>
            <a:pathLst>
              <a:path w="1721890" h="626142" extrusionOk="0">
                <a:moveTo>
                  <a:pt x="0" y="0"/>
                </a:moveTo>
                <a:lnTo>
                  <a:pt x="1721890" y="0"/>
                </a:lnTo>
                <a:lnTo>
                  <a:pt x="1721890" y="626142"/>
                </a:lnTo>
                <a:lnTo>
                  <a:pt x="0" y="626142"/>
                </a:lnTo>
                <a:lnTo>
                  <a:pt x="0" y="0"/>
                </a:lnTo>
                <a:close/>
              </a:path>
            </a:pathLst>
          </a:custGeom>
          <a:blipFill rotWithShape="1">
            <a:blip r:embed="rId9">
              <a:alphaModFix/>
            </a:blip>
            <a:stretch>
              <a:fillRect l="-72694" t="-170790" r="-73660" b="-156816"/>
            </a:stretch>
          </a:blipFill>
          <a:ln>
            <a:noFill/>
          </a:ln>
        </p:spPr>
        <p:txBody>
          <a:bodyPr/>
          <a:lstStyle/>
          <a:p>
            <a:endParaRPr/>
          </a:p>
        </p:txBody>
      </p:sp>
      <p:sp>
        <p:nvSpPr>
          <p:cNvPr id="91" name="Google Shape;91;p1"/>
          <p:cNvSpPr/>
          <p:nvPr/>
        </p:nvSpPr>
        <p:spPr>
          <a:xfrm>
            <a:off x="8258128" y="488306"/>
            <a:ext cx="1474047" cy="670021"/>
          </a:xfrm>
          <a:custGeom>
            <a:avLst/>
            <a:gdLst/>
            <a:ahLst/>
            <a:cxnLst/>
            <a:rect l="l" t="t" r="r" b="b"/>
            <a:pathLst>
              <a:path w="1474047" h="670021" extrusionOk="0">
                <a:moveTo>
                  <a:pt x="0" y="0"/>
                </a:moveTo>
                <a:lnTo>
                  <a:pt x="1474047" y="0"/>
                </a:lnTo>
                <a:lnTo>
                  <a:pt x="1474047" y="670021"/>
                </a:lnTo>
                <a:lnTo>
                  <a:pt x="0" y="670021"/>
                </a:lnTo>
                <a:lnTo>
                  <a:pt x="0" y="0"/>
                </a:lnTo>
                <a:close/>
              </a:path>
            </a:pathLst>
          </a:custGeom>
          <a:blipFill rotWithShape="1">
            <a:blip r:embed="rId10">
              <a:alphaModFix/>
            </a:blip>
            <a:stretch>
              <a:fillRect l="-16057" t="-88646" r="-11397" b="-91756"/>
            </a:stretch>
          </a:blipFill>
          <a:ln>
            <a:noFill/>
          </a:ln>
        </p:spPr>
        <p:txBody>
          <a:bodyPr/>
          <a:lstStyle/>
          <a:p>
            <a:endParaRPr/>
          </a:p>
        </p:txBody>
      </p:sp>
      <p:sp>
        <p:nvSpPr>
          <p:cNvPr id="92" name="Google Shape;92;p1"/>
          <p:cNvSpPr/>
          <p:nvPr/>
        </p:nvSpPr>
        <p:spPr>
          <a:xfrm>
            <a:off x="10341775" y="488306"/>
            <a:ext cx="2677383" cy="585678"/>
          </a:xfrm>
          <a:custGeom>
            <a:avLst/>
            <a:gdLst/>
            <a:ahLst/>
            <a:cxnLst/>
            <a:rect l="l" t="t" r="r" b="b"/>
            <a:pathLst>
              <a:path w="2677383" h="585678" extrusionOk="0">
                <a:moveTo>
                  <a:pt x="0" y="0"/>
                </a:moveTo>
                <a:lnTo>
                  <a:pt x="2677383" y="0"/>
                </a:lnTo>
                <a:lnTo>
                  <a:pt x="2677383" y="585677"/>
                </a:lnTo>
                <a:lnTo>
                  <a:pt x="0" y="585677"/>
                </a:lnTo>
                <a:lnTo>
                  <a:pt x="0" y="0"/>
                </a:lnTo>
                <a:close/>
              </a:path>
            </a:pathLst>
          </a:custGeom>
          <a:blipFill rotWithShape="1">
            <a:blip r:embed="rId11">
              <a:alphaModFix/>
            </a:blip>
            <a:stretch>
              <a:fillRect/>
            </a:stretch>
          </a:blipFill>
          <a:ln>
            <a:noFill/>
          </a:ln>
        </p:spPr>
        <p:txBody>
          <a:bodyPr/>
          <a:lstStyle/>
          <a:p>
            <a:endParaRPr/>
          </a:p>
        </p:txBody>
      </p:sp>
      <p:sp>
        <p:nvSpPr>
          <p:cNvPr id="93" name="Google Shape;93;p1"/>
          <p:cNvSpPr txBox="1"/>
          <p:nvPr/>
        </p:nvSpPr>
        <p:spPr>
          <a:xfrm>
            <a:off x="2149315" y="481156"/>
            <a:ext cx="1655535" cy="461333"/>
          </a:xfrm>
          <a:prstGeom prst="rect">
            <a:avLst/>
          </a:prstGeom>
          <a:noFill/>
          <a:ln>
            <a:noFill/>
          </a:ln>
        </p:spPr>
        <p:txBody>
          <a:bodyPr spcFirstLastPara="1" wrap="square" lIns="0" tIns="0" rIns="0" bIns="0" anchor="t" anchorCtr="0">
            <a:spAutoFit/>
          </a:bodyPr>
          <a:lstStyle/>
          <a:p>
            <a:pPr marL="0" marR="0" lvl="0" indent="0" algn="l" rtl="0">
              <a:lnSpc>
                <a:spcPct val="119984"/>
              </a:lnSpc>
              <a:spcBef>
                <a:spcPts val="0"/>
              </a:spcBef>
              <a:spcAft>
                <a:spcPts val="0"/>
              </a:spcAft>
              <a:buNone/>
            </a:pPr>
            <a:r>
              <a:rPr lang="en-US" sz="2652" b="0" i="0" u="none" strike="noStrike" cap="none">
                <a:solidFill>
                  <a:srgbClr val="000000"/>
                </a:solidFill>
                <a:latin typeface="Times"/>
                <a:ea typeface="Times"/>
                <a:cs typeface="Times"/>
                <a:sym typeface="Times"/>
              </a:rPr>
              <a:t>MANIPAL</a:t>
            </a:r>
            <a:endParaRPr/>
          </a:p>
        </p:txBody>
      </p:sp>
      <p:sp>
        <p:nvSpPr>
          <p:cNvPr id="94" name="Google Shape;94;p1"/>
          <p:cNvSpPr txBox="1"/>
          <p:nvPr/>
        </p:nvSpPr>
        <p:spPr>
          <a:xfrm>
            <a:off x="2149315" y="833903"/>
            <a:ext cx="1655535" cy="302485"/>
          </a:xfrm>
          <a:prstGeom prst="rect">
            <a:avLst/>
          </a:prstGeom>
          <a:noFill/>
          <a:ln>
            <a:noFill/>
          </a:ln>
        </p:spPr>
        <p:txBody>
          <a:bodyPr spcFirstLastPara="1" wrap="square" lIns="0" tIns="0" rIns="0" bIns="0" anchor="t" anchorCtr="0">
            <a:spAutoFit/>
          </a:bodyPr>
          <a:lstStyle/>
          <a:p>
            <a:pPr marL="0" marR="0" lvl="1" indent="0" algn="l" rtl="0">
              <a:lnSpc>
                <a:spcPct val="140097"/>
              </a:lnSpc>
              <a:spcBef>
                <a:spcPts val="0"/>
              </a:spcBef>
              <a:spcAft>
                <a:spcPts val="0"/>
              </a:spcAft>
              <a:buNone/>
            </a:pPr>
            <a:r>
              <a:rPr lang="en-US" sz="823" b="0" i="0" u="none" strike="noStrike" cap="none">
                <a:solidFill>
                  <a:srgbClr val="000000"/>
                </a:solidFill>
                <a:latin typeface="Times"/>
                <a:ea typeface="Times"/>
                <a:cs typeface="Times"/>
                <a:sym typeface="Times"/>
              </a:rPr>
              <a:t>ACADEMY OF HIGHER EDUCATION</a:t>
            </a:r>
            <a:endParaRPr/>
          </a:p>
        </p:txBody>
      </p:sp>
      <p:sp>
        <p:nvSpPr>
          <p:cNvPr id="95" name="Google Shape;95;p1"/>
          <p:cNvSpPr txBox="1"/>
          <p:nvPr/>
        </p:nvSpPr>
        <p:spPr>
          <a:xfrm>
            <a:off x="2149315" y="1098287"/>
            <a:ext cx="1655535" cy="132626"/>
          </a:xfrm>
          <a:prstGeom prst="rect">
            <a:avLst/>
          </a:prstGeom>
          <a:noFill/>
          <a:ln>
            <a:noFill/>
          </a:ln>
        </p:spPr>
        <p:txBody>
          <a:bodyPr spcFirstLastPara="1" wrap="square" lIns="0" tIns="0" rIns="0" bIns="0" anchor="t" anchorCtr="0">
            <a:spAutoFit/>
          </a:bodyPr>
          <a:lstStyle/>
          <a:p>
            <a:pPr marL="0" marR="0" lvl="1" indent="0" algn="l" rtl="0">
              <a:lnSpc>
                <a:spcPct val="140092"/>
              </a:lnSpc>
              <a:spcBef>
                <a:spcPts val="0"/>
              </a:spcBef>
              <a:spcAft>
                <a:spcPts val="0"/>
              </a:spcAft>
              <a:buNone/>
            </a:pPr>
            <a:r>
              <a:rPr lang="en-US" sz="646" b="0" i="1" u="none" strike="noStrike" cap="none">
                <a:solidFill>
                  <a:srgbClr val="000000"/>
                </a:solidFill>
                <a:latin typeface="Times"/>
                <a:ea typeface="Times"/>
                <a:cs typeface="Times"/>
                <a:sym typeface="Times"/>
              </a:rPr>
              <a:t>Institution of Embrace Diamant in the University</a:t>
            </a:r>
            <a:endParaRPr/>
          </a:p>
        </p:txBody>
      </p:sp>
      <p:sp>
        <p:nvSpPr>
          <p:cNvPr id="96" name="Google Shape;96;p1"/>
          <p:cNvSpPr/>
          <p:nvPr/>
        </p:nvSpPr>
        <p:spPr>
          <a:xfrm>
            <a:off x="12144375" y="3869391"/>
            <a:ext cx="6143625" cy="6417609"/>
          </a:xfrm>
          <a:custGeom>
            <a:avLst/>
            <a:gdLst/>
            <a:ahLst/>
            <a:cxnLst/>
            <a:rect l="l" t="t" r="r" b="b"/>
            <a:pathLst>
              <a:path w="6143625" h="6417609" extrusionOk="0">
                <a:moveTo>
                  <a:pt x="0" y="0"/>
                </a:moveTo>
                <a:lnTo>
                  <a:pt x="6143625" y="0"/>
                </a:lnTo>
                <a:lnTo>
                  <a:pt x="6143625" y="6417609"/>
                </a:lnTo>
                <a:lnTo>
                  <a:pt x="0" y="6417609"/>
                </a:lnTo>
                <a:lnTo>
                  <a:pt x="0" y="0"/>
                </a:lnTo>
                <a:close/>
              </a:path>
            </a:pathLst>
          </a:custGeom>
          <a:blipFill rotWithShape="1">
            <a:blip r:embed="rId12">
              <a:alphaModFix/>
            </a:blip>
            <a:stretch>
              <a:fillRect b="-4932"/>
            </a:stretch>
          </a:blipFill>
          <a:ln>
            <a:noFill/>
          </a:ln>
        </p:spPr>
        <p:txBody>
          <a:bodyPr/>
          <a:lstStyle/>
          <a:p>
            <a:endParaRPr/>
          </a:p>
        </p:txBody>
      </p:sp>
      <p:grpSp>
        <p:nvGrpSpPr>
          <p:cNvPr id="97" name="Google Shape;97;p1"/>
          <p:cNvGrpSpPr/>
          <p:nvPr/>
        </p:nvGrpSpPr>
        <p:grpSpPr>
          <a:xfrm>
            <a:off x="1028700" y="1593199"/>
            <a:ext cx="10533832" cy="4930312"/>
            <a:chOff x="0" y="-314325"/>
            <a:chExt cx="12613857" cy="6573749"/>
          </a:xfrm>
        </p:grpSpPr>
        <p:sp>
          <p:nvSpPr>
            <p:cNvPr id="98" name="Google Shape;98;p1"/>
            <p:cNvSpPr txBox="1"/>
            <p:nvPr/>
          </p:nvSpPr>
          <p:spPr>
            <a:xfrm>
              <a:off x="382399" y="-314325"/>
              <a:ext cx="11904300" cy="3379800"/>
            </a:xfrm>
            <a:prstGeom prst="rect">
              <a:avLst/>
            </a:prstGeom>
            <a:noFill/>
            <a:ln>
              <a:noFill/>
            </a:ln>
          </p:spPr>
          <p:txBody>
            <a:bodyPr spcFirstLastPara="1" wrap="square" lIns="0" tIns="0" rIns="0" bIns="0" anchor="t" anchorCtr="0">
              <a:spAutoFit/>
            </a:bodyPr>
            <a:lstStyle/>
            <a:p>
              <a:pPr marL="0" marR="0" lvl="0" indent="0" algn="l" rtl="0">
                <a:lnSpc>
                  <a:spcPct val="120002"/>
                </a:lnSpc>
                <a:spcBef>
                  <a:spcPts val="0"/>
                </a:spcBef>
                <a:spcAft>
                  <a:spcPts val="0"/>
                </a:spcAft>
                <a:buNone/>
              </a:pPr>
              <a:r>
                <a:rPr lang="en-US" sz="16468" b="0" i="0" u="none" strike="noStrike" cap="none" dirty="0" err="1">
                  <a:solidFill>
                    <a:srgbClr val="5DE0E6"/>
                  </a:solidFill>
                  <a:latin typeface="Times"/>
                  <a:ea typeface="Times"/>
                  <a:cs typeface="Times"/>
                  <a:sym typeface="Times"/>
                </a:rPr>
                <a:t>HackSprint</a:t>
              </a:r>
              <a:endParaRPr dirty="0"/>
            </a:p>
          </p:txBody>
        </p:sp>
        <p:sp>
          <p:nvSpPr>
            <p:cNvPr id="99" name="Google Shape;99;p1"/>
            <p:cNvSpPr/>
            <p:nvPr/>
          </p:nvSpPr>
          <p:spPr>
            <a:xfrm>
              <a:off x="2124439" y="2762951"/>
              <a:ext cx="8394484" cy="1047467"/>
            </a:xfrm>
            <a:custGeom>
              <a:avLst/>
              <a:gdLst/>
              <a:ahLst/>
              <a:cxnLst/>
              <a:rect l="l" t="t" r="r" b="b"/>
              <a:pathLst>
                <a:path w="8394485" h="1047467" extrusionOk="0">
                  <a:moveTo>
                    <a:pt x="0" y="0"/>
                  </a:moveTo>
                  <a:lnTo>
                    <a:pt x="8394485" y="0"/>
                  </a:lnTo>
                  <a:lnTo>
                    <a:pt x="8394485" y="1047467"/>
                  </a:lnTo>
                  <a:lnTo>
                    <a:pt x="0" y="1047467"/>
                  </a:lnTo>
                  <a:lnTo>
                    <a:pt x="0" y="0"/>
                  </a:lnTo>
                  <a:close/>
                </a:path>
              </a:pathLst>
            </a:custGeom>
            <a:blipFill rotWithShape="1">
              <a:blip r:embed="rId13">
                <a:alphaModFix/>
              </a:blip>
              <a:stretch>
                <a:fillRect l="-1933" t="-18310" r="-1581"/>
              </a:stretch>
            </a:blipFill>
            <a:ln>
              <a:noFill/>
            </a:ln>
          </p:spPr>
          <p:txBody>
            <a:bodyPr/>
            <a:lstStyle/>
            <a:p>
              <a:endParaRPr/>
            </a:p>
          </p:txBody>
        </p:sp>
        <p:sp>
          <p:nvSpPr>
            <p:cNvPr id="100" name="Google Shape;100;p1"/>
            <p:cNvSpPr/>
            <p:nvPr/>
          </p:nvSpPr>
          <p:spPr>
            <a:xfrm>
              <a:off x="0" y="3795665"/>
              <a:ext cx="12613857" cy="2463759"/>
            </a:xfrm>
            <a:custGeom>
              <a:avLst/>
              <a:gdLst/>
              <a:ahLst/>
              <a:cxnLst/>
              <a:rect l="l" t="t" r="r" b="b"/>
              <a:pathLst>
                <a:path w="12613857" h="2463759" extrusionOk="0">
                  <a:moveTo>
                    <a:pt x="0" y="0"/>
                  </a:moveTo>
                  <a:lnTo>
                    <a:pt x="12613857" y="0"/>
                  </a:lnTo>
                  <a:lnTo>
                    <a:pt x="12613857" y="2463759"/>
                  </a:lnTo>
                  <a:lnTo>
                    <a:pt x="0" y="2463759"/>
                  </a:lnTo>
                  <a:lnTo>
                    <a:pt x="0" y="0"/>
                  </a:lnTo>
                  <a:close/>
                </a:path>
              </a:pathLst>
            </a:custGeom>
            <a:blipFill rotWithShape="1">
              <a:blip r:embed="rId14">
                <a:alphaModFix/>
              </a:blip>
              <a:stretch>
                <a:fillRect/>
              </a:stretch>
            </a:blipFill>
            <a:ln>
              <a:noFill/>
            </a:ln>
          </p:spPr>
          <p:txBody>
            <a:bodyPr/>
            <a:lstStyle/>
            <a:p>
              <a:endParaRPr/>
            </a:p>
          </p:txBody>
        </p:sp>
        <p:sp>
          <p:nvSpPr>
            <p:cNvPr id="101" name="Google Shape;101;p1"/>
            <p:cNvSpPr/>
            <p:nvPr/>
          </p:nvSpPr>
          <p:spPr>
            <a:xfrm>
              <a:off x="3083387" y="4400540"/>
              <a:ext cx="575369" cy="1239256"/>
            </a:xfrm>
            <a:custGeom>
              <a:avLst/>
              <a:gdLst/>
              <a:ahLst/>
              <a:cxnLst/>
              <a:rect l="l" t="t" r="r" b="b"/>
              <a:pathLst>
                <a:path w="575369" h="1239256" extrusionOk="0">
                  <a:moveTo>
                    <a:pt x="0" y="0"/>
                  </a:moveTo>
                  <a:lnTo>
                    <a:pt x="575369" y="0"/>
                  </a:lnTo>
                  <a:lnTo>
                    <a:pt x="575369" y="1239256"/>
                  </a:lnTo>
                  <a:lnTo>
                    <a:pt x="0" y="1239256"/>
                  </a:lnTo>
                  <a:lnTo>
                    <a:pt x="0" y="0"/>
                  </a:lnTo>
                  <a:close/>
                </a:path>
              </a:pathLst>
            </a:custGeom>
            <a:blipFill rotWithShape="1">
              <a:blip r:embed="rId15">
                <a:alphaModFix/>
              </a:blip>
              <a:stretch>
                <a:fillRect/>
              </a:stretch>
            </a:blipFill>
            <a:ln>
              <a:noFill/>
            </a:ln>
          </p:spPr>
          <p:txBody>
            <a:bodyPr/>
            <a:lstStyle/>
            <a:p>
              <a:endParaRPr/>
            </a:p>
          </p:txBody>
        </p:sp>
        <p:sp>
          <p:nvSpPr>
            <p:cNvPr id="102" name="Google Shape;102;p1"/>
            <p:cNvSpPr/>
            <p:nvPr/>
          </p:nvSpPr>
          <p:spPr>
            <a:xfrm>
              <a:off x="8689546" y="4400540"/>
              <a:ext cx="73765" cy="1239256"/>
            </a:xfrm>
            <a:custGeom>
              <a:avLst/>
              <a:gdLst/>
              <a:ahLst/>
              <a:cxnLst/>
              <a:rect l="l" t="t" r="r" b="b"/>
              <a:pathLst>
                <a:path w="73765" h="1239256" extrusionOk="0">
                  <a:moveTo>
                    <a:pt x="0" y="0"/>
                  </a:moveTo>
                  <a:lnTo>
                    <a:pt x="73765" y="0"/>
                  </a:lnTo>
                  <a:lnTo>
                    <a:pt x="73765" y="1239256"/>
                  </a:lnTo>
                  <a:lnTo>
                    <a:pt x="0" y="1239256"/>
                  </a:lnTo>
                  <a:lnTo>
                    <a:pt x="0" y="0"/>
                  </a:lnTo>
                  <a:close/>
                </a:path>
              </a:pathLst>
            </a:custGeom>
            <a:blipFill rotWithShape="1">
              <a:blip r:embed="rId16">
                <a:alphaModFix/>
              </a:blip>
              <a:stretch>
                <a:fillRect l="-20000" r="-280000"/>
              </a:stretch>
            </a:blipFill>
            <a:ln>
              <a:noFill/>
            </a:ln>
          </p:spPr>
          <p:txBody>
            <a:bodyPr/>
            <a:lstStyle/>
            <a:p>
              <a:endParaRPr/>
            </a:p>
          </p:txBody>
        </p:sp>
        <p:sp>
          <p:nvSpPr>
            <p:cNvPr id="103" name="Google Shape;103;p1"/>
            <p:cNvSpPr txBox="1"/>
            <p:nvPr/>
          </p:nvSpPr>
          <p:spPr>
            <a:xfrm>
              <a:off x="2843274" y="2858498"/>
              <a:ext cx="7221300" cy="742800"/>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3620" b="1" i="0" u="none" strike="noStrike" cap="none" dirty="0">
                  <a:solidFill>
                    <a:srgbClr val="004944"/>
                  </a:solidFill>
                  <a:latin typeface="Arial"/>
                  <a:ea typeface="Arial"/>
                  <a:cs typeface="Arial"/>
                  <a:sym typeface="Arial"/>
                </a:rPr>
                <a:t>24-Hour </a:t>
              </a:r>
              <a:r>
                <a:rPr lang="en-US" sz="3620" b="1" i="0" u="none" strike="noStrike" cap="none" dirty="0" smtClean="0">
                  <a:solidFill>
                    <a:srgbClr val="004944"/>
                  </a:solidFill>
                  <a:latin typeface="Arial"/>
                  <a:ea typeface="Arial"/>
                  <a:cs typeface="Arial"/>
                  <a:sym typeface="Arial"/>
                </a:rPr>
                <a:t>Hackathon</a:t>
              </a:r>
              <a:endParaRPr dirty="0"/>
            </a:p>
          </p:txBody>
        </p:sp>
        <p:sp>
          <p:nvSpPr>
            <p:cNvPr id="104" name="Google Shape;104;p1"/>
            <p:cNvSpPr txBox="1"/>
            <p:nvPr/>
          </p:nvSpPr>
          <p:spPr>
            <a:xfrm>
              <a:off x="865835" y="4393321"/>
              <a:ext cx="2417100" cy="1013400"/>
            </a:xfrm>
            <a:prstGeom prst="rect">
              <a:avLst/>
            </a:prstGeom>
            <a:noFill/>
            <a:ln>
              <a:noFill/>
            </a:ln>
          </p:spPr>
          <p:txBody>
            <a:bodyPr spcFirstLastPara="1" wrap="square" lIns="0" tIns="0" rIns="0" bIns="0" anchor="t" anchorCtr="0">
              <a:spAutoFit/>
            </a:bodyPr>
            <a:lstStyle/>
            <a:p>
              <a:pPr marL="0" marR="0" lvl="0" indent="0" algn="ctr" rtl="0">
                <a:lnSpc>
                  <a:spcPct val="120008"/>
                </a:lnSpc>
                <a:spcBef>
                  <a:spcPts val="0"/>
                </a:spcBef>
                <a:spcAft>
                  <a:spcPts val="0"/>
                </a:spcAft>
                <a:buNone/>
              </a:pPr>
              <a:r>
                <a:rPr lang="en-US" sz="4938" b="1" i="0" u="none" strike="noStrike" cap="none">
                  <a:solidFill>
                    <a:srgbClr val="5DE0E6"/>
                  </a:solidFill>
                  <a:latin typeface="Arial"/>
                  <a:ea typeface="Arial"/>
                  <a:cs typeface="Arial"/>
                  <a:sym typeface="Arial"/>
                </a:rPr>
                <a:t>17-18</a:t>
              </a:r>
              <a:endParaRPr/>
            </a:p>
          </p:txBody>
        </p:sp>
        <p:sp>
          <p:nvSpPr>
            <p:cNvPr id="105" name="Google Shape;105;p1"/>
            <p:cNvSpPr txBox="1"/>
            <p:nvPr/>
          </p:nvSpPr>
          <p:spPr>
            <a:xfrm>
              <a:off x="4400894" y="4940029"/>
              <a:ext cx="3474600" cy="742200"/>
            </a:xfrm>
            <a:prstGeom prst="rect">
              <a:avLst/>
            </a:prstGeom>
            <a:noFill/>
            <a:ln>
              <a:noFill/>
            </a:ln>
          </p:spPr>
          <p:txBody>
            <a:bodyPr spcFirstLastPara="1" wrap="square" lIns="0" tIns="0" rIns="0" bIns="0" anchor="t" anchorCtr="0">
              <a:spAutoFit/>
            </a:bodyPr>
            <a:lstStyle/>
            <a:p>
              <a:pPr marL="0" marR="0" lvl="0" indent="0" algn="ctr" rtl="0">
                <a:lnSpc>
                  <a:spcPct val="119951"/>
                </a:lnSpc>
                <a:spcBef>
                  <a:spcPts val="0"/>
                </a:spcBef>
                <a:spcAft>
                  <a:spcPts val="0"/>
                </a:spcAft>
                <a:buNone/>
              </a:pPr>
              <a:r>
                <a:rPr lang="en-US" sz="1644" b="1" i="0" u="none" strike="noStrike" cap="none">
                  <a:solidFill>
                    <a:srgbClr val="004944"/>
                  </a:solidFill>
                  <a:latin typeface="Arial"/>
                  <a:ea typeface="Arial"/>
                  <a:cs typeface="Arial"/>
                  <a:sym typeface="Arial"/>
                </a:rPr>
                <a:t>Manipal Academy of Higher Education (MAHE)</a:t>
              </a:r>
              <a:endParaRPr/>
            </a:p>
          </p:txBody>
        </p:sp>
        <p:sp>
          <p:nvSpPr>
            <p:cNvPr id="106" name="Google Shape;106;p1"/>
            <p:cNvSpPr txBox="1"/>
            <p:nvPr/>
          </p:nvSpPr>
          <p:spPr>
            <a:xfrm>
              <a:off x="1047112" y="5438889"/>
              <a:ext cx="1389900" cy="328800"/>
            </a:xfrm>
            <a:prstGeom prst="rect">
              <a:avLst/>
            </a:prstGeom>
            <a:noFill/>
            <a:ln>
              <a:noFill/>
            </a:ln>
          </p:spPr>
          <p:txBody>
            <a:bodyPr spcFirstLastPara="1" wrap="square" lIns="0" tIns="0" rIns="0" bIns="0" anchor="t" anchorCtr="0">
              <a:spAutoFit/>
            </a:bodyPr>
            <a:lstStyle/>
            <a:p>
              <a:pPr marL="0" marR="0" lvl="0" indent="0" algn="ctr" rtl="0">
                <a:lnSpc>
                  <a:spcPct val="120037"/>
                </a:lnSpc>
                <a:spcBef>
                  <a:spcPts val="0"/>
                </a:spcBef>
                <a:spcAft>
                  <a:spcPts val="0"/>
                </a:spcAft>
                <a:buNone/>
              </a:pPr>
              <a:r>
                <a:rPr lang="en-US" sz="1602" b="1" i="0" u="none" strike="noStrike" cap="none">
                  <a:solidFill>
                    <a:srgbClr val="004944"/>
                  </a:solidFill>
                  <a:latin typeface="Arial"/>
                  <a:ea typeface="Arial"/>
                  <a:cs typeface="Arial"/>
                  <a:sym typeface="Arial"/>
                </a:rPr>
                <a:t>OCTOBER</a:t>
              </a:r>
              <a:endParaRPr/>
            </a:p>
          </p:txBody>
        </p:sp>
        <p:sp>
          <p:nvSpPr>
            <p:cNvPr id="107" name="Google Shape;107;p1"/>
            <p:cNvSpPr txBox="1"/>
            <p:nvPr/>
          </p:nvSpPr>
          <p:spPr>
            <a:xfrm>
              <a:off x="4974964" y="4461918"/>
              <a:ext cx="2296200" cy="345900"/>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1685" b="1" i="0" u="none" strike="noStrike" cap="none">
                  <a:solidFill>
                    <a:srgbClr val="004944"/>
                  </a:solidFill>
                  <a:latin typeface="Arial"/>
                  <a:ea typeface="Arial"/>
                  <a:cs typeface="Arial"/>
                  <a:sym typeface="Arial"/>
                </a:rPr>
                <a:t>VENUE DETAILS</a:t>
              </a:r>
              <a:endParaRPr/>
            </a:p>
          </p:txBody>
        </p:sp>
        <p:sp>
          <p:nvSpPr>
            <p:cNvPr id="108" name="Google Shape;108;p1"/>
            <p:cNvSpPr txBox="1"/>
            <p:nvPr/>
          </p:nvSpPr>
          <p:spPr>
            <a:xfrm>
              <a:off x="10141600" y="4781941"/>
              <a:ext cx="1631700" cy="345900"/>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1685" b="1" i="0" u="none" strike="noStrike" cap="none">
                  <a:solidFill>
                    <a:srgbClr val="004944"/>
                  </a:solidFill>
                  <a:latin typeface="Arial"/>
                  <a:ea typeface="Arial"/>
                  <a:cs typeface="Arial"/>
                  <a:sym typeface="Arial"/>
                </a:rPr>
                <a:t>SATURDAY</a:t>
              </a:r>
              <a:endParaRPr/>
            </a:p>
          </p:txBody>
        </p:sp>
        <p:sp>
          <p:nvSpPr>
            <p:cNvPr id="109" name="Google Shape;109;p1"/>
            <p:cNvSpPr txBox="1"/>
            <p:nvPr/>
          </p:nvSpPr>
          <p:spPr>
            <a:xfrm>
              <a:off x="9416458" y="5168176"/>
              <a:ext cx="2417100" cy="345900"/>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1685" b="0" i="0" u="none" strike="noStrike" cap="none">
                  <a:solidFill>
                    <a:srgbClr val="004944"/>
                  </a:solidFill>
                  <a:latin typeface="Arial"/>
                  <a:ea typeface="Arial"/>
                  <a:cs typeface="Arial"/>
                  <a:sym typeface="Arial"/>
                </a:rPr>
                <a:t>09 A.M. Onwards</a:t>
              </a:r>
              <a:endParaRPr/>
            </a:p>
          </p:txBody>
        </p:sp>
      </p:grpSp>
      <p:grpSp>
        <p:nvGrpSpPr>
          <p:cNvPr id="110" name="Google Shape;110;p1"/>
          <p:cNvGrpSpPr/>
          <p:nvPr/>
        </p:nvGrpSpPr>
        <p:grpSpPr>
          <a:xfrm>
            <a:off x="1166813" y="8715375"/>
            <a:ext cx="14049375" cy="1085850"/>
            <a:chOff x="0" y="0"/>
            <a:chExt cx="18732500" cy="1447800"/>
          </a:xfrm>
        </p:grpSpPr>
        <p:sp>
          <p:nvSpPr>
            <p:cNvPr id="111" name="Google Shape;111;p1"/>
            <p:cNvSpPr/>
            <p:nvPr/>
          </p:nvSpPr>
          <p:spPr>
            <a:xfrm>
              <a:off x="0" y="0"/>
              <a:ext cx="18732500" cy="1447800"/>
            </a:xfrm>
            <a:custGeom>
              <a:avLst/>
              <a:gdLst/>
              <a:ahLst/>
              <a:cxnLst/>
              <a:rect l="l" t="t" r="r" b="b"/>
              <a:pathLst>
                <a:path w="18732500" h="1447800" extrusionOk="0">
                  <a:moveTo>
                    <a:pt x="0" y="0"/>
                  </a:moveTo>
                  <a:lnTo>
                    <a:pt x="18732500" y="0"/>
                  </a:lnTo>
                  <a:lnTo>
                    <a:pt x="18732500" y="1447800"/>
                  </a:lnTo>
                  <a:lnTo>
                    <a:pt x="0" y="1447800"/>
                  </a:lnTo>
                  <a:lnTo>
                    <a:pt x="0" y="0"/>
                  </a:lnTo>
                  <a:close/>
                </a:path>
              </a:pathLst>
            </a:custGeom>
            <a:blipFill rotWithShape="1">
              <a:blip r:embed="rId17">
                <a:alphaModFix/>
              </a:blip>
              <a:stretch>
                <a:fillRect l="-542" t="-9649" r="-1084" b="-18422"/>
              </a:stretch>
            </a:blipFill>
            <a:ln>
              <a:noFill/>
            </a:ln>
          </p:spPr>
          <p:txBody>
            <a:bodyPr/>
            <a:lstStyle/>
            <a:p>
              <a:endParaRPr/>
            </a:p>
          </p:txBody>
        </p:sp>
        <p:sp>
          <p:nvSpPr>
            <p:cNvPr id="112" name="Google Shape;112;p1"/>
            <p:cNvSpPr/>
            <p:nvPr/>
          </p:nvSpPr>
          <p:spPr>
            <a:xfrm>
              <a:off x="10927848" y="480123"/>
              <a:ext cx="2629904" cy="575802"/>
            </a:xfrm>
            <a:custGeom>
              <a:avLst/>
              <a:gdLst/>
              <a:ahLst/>
              <a:cxnLst/>
              <a:rect l="l" t="t" r="r" b="b"/>
              <a:pathLst>
                <a:path w="2629904" h="575802" extrusionOk="0">
                  <a:moveTo>
                    <a:pt x="0" y="0"/>
                  </a:moveTo>
                  <a:lnTo>
                    <a:pt x="2629904" y="0"/>
                  </a:lnTo>
                  <a:lnTo>
                    <a:pt x="2629904" y="575802"/>
                  </a:lnTo>
                  <a:lnTo>
                    <a:pt x="0" y="575802"/>
                  </a:lnTo>
                  <a:lnTo>
                    <a:pt x="0" y="0"/>
                  </a:lnTo>
                  <a:close/>
                </a:path>
              </a:pathLst>
            </a:custGeom>
            <a:blipFill rotWithShape="1">
              <a:blip r:embed="rId18">
                <a:alphaModFix/>
              </a:blip>
              <a:stretch>
                <a:fillRect/>
              </a:stretch>
            </a:blipFill>
            <a:ln>
              <a:noFill/>
            </a:ln>
          </p:spPr>
          <p:txBody>
            <a:bodyPr/>
            <a:lstStyle/>
            <a:p>
              <a:endParaRPr/>
            </a:p>
          </p:txBody>
        </p:sp>
        <p:sp>
          <p:nvSpPr>
            <p:cNvPr id="113" name="Google Shape;113;p1"/>
            <p:cNvSpPr txBox="1"/>
            <p:nvPr/>
          </p:nvSpPr>
          <p:spPr>
            <a:xfrm>
              <a:off x="1372006" y="226089"/>
              <a:ext cx="1664614" cy="829836"/>
            </a:xfrm>
            <a:prstGeom prst="rect">
              <a:avLst/>
            </a:prstGeom>
            <a:noFill/>
            <a:ln>
              <a:noFill/>
            </a:ln>
          </p:spPr>
          <p:txBody>
            <a:bodyPr spcFirstLastPara="1" wrap="square" lIns="0" tIns="0" rIns="0" bIns="0" anchor="t" anchorCtr="0">
              <a:spAutoFit/>
            </a:bodyPr>
            <a:lstStyle/>
            <a:p>
              <a:pPr marL="0" marR="0" lvl="0" indent="0" algn="ctr" rtl="0">
                <a:lnSpc>
                  <a:spcPct val="140054"/>
                </a:lnSpc>
                <a:spcBef>
                  <a:spcPts val="0"/>
                </a:spcBef>
                <a:spcAft>
                  <a:spcPts val="0"/>
                </a:spcAft>
                <a:buNone/>
              </a:pPr>
              <a:r>
                <a:rPr lang="en-US" sz="1840" b="1" i="0" u="none" strike="noStrike" cap="none">
                  <a:solidFill>
                    <a:srgbClr val="FFFFFF"/>
                  </a:solidFill>
                  <a:latin typeface="Arial"/>
                  <a:ea typeface="Arial"/>
                  <a:cs typeface="Arial"/>
                  <a:sym typeface="Arial"/>
                </a:rPr>
                <a:t>REGISTER NOW</a:t>
              </a:r>
              <a:endParaRPr/>
            </a:p>
          </p:txBody>
        </p:sp>
        <p:sp>
          <p:nvSpPr>
            <p:cNvPr id="114" name="Google Shape;114;p1"/>
            <p:cNvSpPr txBox="1"/>
            <p:nvPr/>
          </p:nvSpPr>
          <p:spPr>
            <a:xfrm>
              <a:off x="7172147" y="252779"/>
              <a:ext cx="1742643" cy="998564"/>
            </a:xfrm>
            <a:prstGeom prst="rect">
              <a:avLst/>
            </a:prstGeom>
            <a:noFill/>
            <a:ln>
              <a:noFill/>
            </a:ln>
          </p:spPr>
          <p:txBody>
            <a:bodyPr spcFirstLastPara="1" wrap="square" lIns="0" tIns="0" rIns="0" bIns="0" anchor="t" anchorCtr="0">
              <a:spAutoFit/>
            </a:bodyPr>
            <a:lstStyle/>
            <a:p>
              <a:pPr marL="0" marR="0" lvl="0" indent="0" algn="ctr" rtl="0">
                <a:lnSpc>
                  <a:spcPct val="160026"/>
                </a:lnSpc>
                <a:spcBef>
                  <a:spcPts val="0"/>
                </a:spcBef>
                <a:spcAft>
                  <a:spcPts val="0"/>
                </a:spcAft>
                <a:buNone/>
              </a:pPr>
              <a:r>
                <a:rPr lang="en-US" sz="1521" b="1" i="0" u="none" strike="noStrike" cap="none" dirty="0">
                  <a:solidFill>
                    <a:srgbClr val="FFFFFF"/>
                  </a:solidFill>
                  <a:latin typeface="Arial"/>
                  <a:ea typeface="Arial"/>
                  <a:cs typeface="Arial"/>
                  <a:sym typeface="Arial"/>
                </a:rPr>
                <a:t>Team Size</a:t>
              </a:r>
              <a:endParaRPr dirty="0"/>
            </a:p>
            <a:p>
              <a:pPr marL="0" marR="0" lvl="0" indent="0" algn="ctr" rtl="0">
                <a:lnSpc>
                  <a:spcPct val="160026"/>
                </a:lnSpc>
                <a:spcBef>
                  <a:spcPts val="0"/>
                </a:spcBef>
                <a:spcAft>
                  <a:spcPts val="0"/>
                </a:spcAft>
                <a:buNone/>
              </a:pPr>
              <a:r>
                <a:rPr lang="en-US" sz="1521" b="1" i="0" u="none" strike="noStrike" cap="none" smtClean="0">
                  <a:solidFill>
                    <a:srgbClr val="FFFFFF"/>
                  </a:solidFill>
                  <a:latin typeface="Arial"/>
                  <a:ea typeface="Arial"/>
                  <a:cs typeface="Arial"/>
                  <a:sym typeface="Arial"/>
                </a:rPr>
                <a:t>2 </a:t>
              </a:r>
              <a:r>
                <a:rPr lang="en-US" sz="1521" b="1" i="0" u="none" strike="noStrike" cap="none" dirty="0">
                  <a:solidFill>
                    <a:srgbClr val="FFFFFF"/>
                  </a:solidFill>
                  <a:latin typeface="Arial"/>
                  <a:ea typeface="Arial"/>
                  <a:cs typeface="Arial"/>
                  <a:sym typeface="Arial"/>
                </a:rPr>
                <a:t>Members</a:t>
              </a:r>
              <a:endParaRPr dirty="0"/>
            </a:p>
          </p:txBody>
        </p:sp>
        <p:sp>
          <p:nvSpPr>
            <p:cNvPr id="115" name="Google Shape;115;p1"/>
            <p:cNvSpPr txBox="1"/>
            <p:nvPr/>
          </p:nvSpPr>
          <p:spPr>
            <a:xfrm>
              <a:off x="12429346" y="130153"/>
              <a:ext cx="2139716" cy="292100"/>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1450" b="1" i="0" u="none" strike="noStrike" cap="none">
                  <a:solidFill>
                    <a:srgbClr val="FFFFFF"/>
                  </a:solidFill>
                  <a:latin typeface="Playfair Display SemiBold"/>
                  <a:ea typeface="Playfair Display SemiBold"/>
                  <a:cs typeface="Playfair Display SemiBold"/>
                  <a:sym typeface="Playfair Display SemiBold"/>
                </a:rPr>
                <a:t>ORGANIZED BY:</a:t>
              </a:r>
              <a:endParaRPr/>
            </a:p>
          </p:txBody>
        </p:sp>
        <p:sp>
          <p:nvSpPr>
            <p:cNvPr id="116" name="Google Shape;116;p1"/>
            <p:cNvSpPr/>
            <p:nvPr/>
          </p:nvSpPr>
          <p:spPr>
            <a:xfrm>
              <a:off x="14501941" y="232228"/>
              <a:ext cx="721119" cy="983344"/>
            </a:xfrm>
            <a:custGeom>
              <a:avLst/>
              <a:gdLst/>
              <a:ahLst/>
              <a:cxnLst/>
              <a:rect l="l" t="t" r="r" b="b"/>
              <a:pathLst>
                <a:path w="721119" h="983344" extrusionOk="0">
                  <a:moveTo>
                    <a:pt x="0" y="0"/>
                  </a:moveTo>
                  <a:lnTo>
                    <a:pt x="721119" y="0"/>
                  </a:lnTo>
                  <a:lnTo>
                    <a:pt x="721119" y="983344"/>
                  </a:lnTo>
                  <a:lnTo>
                    <a:pt x="0" y="983344"/>
                  </a:lnTo>
                  <a:lnTo>
                    <a:pt x="0" y="0"/>
                  </a:lnTo>
                  <a:close/>
                </a:path>
              </a:pathLst>
            </a:custGeom>
            <a:blipFill rotWithShape="1">
              <a:blip r:embed="rId6">
                <a:alphaModFix/>
              </a:blip>
              <a:stretch>
                <a:fillRect/>
              </a:stretch>
            </a:blipFill>
            <a:ln>
              <a:noFill/>
            </a:ln>
          </p:spPr>
          <p:txBody>
            <a:bodyPr/>
            <a:lstStyle/>
            <a:p>
              <a:endParaRPr/>
            </a:p>
          </p:txBody>
        </p:sp>
        <p:sp>
          <p:nvSpPr>
            <p:cNvPr id="117" name="Google Shape;117;p1"/>
            <p:cNvSpPr txBox="1"/>
            <p:nvPr/>
          </p:nvSpPr>
          <p:spPr>
            <a:xfrm>
              <a:off x="15125170" y="469001"/>
              <a:ext cx="1260579" cy="342900"/>
            </a:xfrm>
            <a:prstGeom prst="rect">
              <a:avLst/>
            </a:prstGeom>
            <a:noFill/>
            <a:ln>
              <a:noFill/>
            </a:ln>
          </p:spPr>
          <p:txBody>
            <a:bodyPr spcFirstLastPara="1" wrap="square" lIns="0" tIns="0" rIns="0" bIns="0" anchor="t" anchorCtr="0">
              <a:spAutoFit/>
            </a:bodyPr>
            <a:lstStyle/>
            <a:p>
              <a:pPr marL="0" marR="0" lvl="0" indent="0" algn="l" rtl="0">
                <a:lnSpc>
                  <a:spcPct val="120013"/>
                </a:lnSpc>
                <a:spcBef>
                  <a:spcPts val="0"/>
                </a:spcBef>
                <a:spcAft>
                  <a:spcPts val="0"/>
                </a:spcAft>
                <a:buNone/>
              </a:pPr>
              <a:r>
                <a:rPr lang="en-US" sz="1514" b="0" i="0" u="none" strike="noStrike" cap="none">
                  <a:solidFill>
                    <a:srgbClr val="FFFFFF"/>
                  </a:solidFill>
                  <a:latin typeface="Times"/>
                  <a:ea typeface="Times"/>
                  <a:cs typeface="Times"/>
                  <a:sym typeface="Times"/>
                </a:rPr>
                <a:t>MANIPAL</a:t>
              </a:r>
              <a:endParaRPr/>
            </a:p>
          </p:txBody>
        </p:sp>
        <p:sp>
          <p:nvSpPr>
            <p:cNvPr id="118" name="Google Shape;118;p1"/>
            <p:cNvSpPr txBox="1"/>
            <p:nvPr/>
          </p:nvSpPr>
          <p:spPr>
            <a:xfrm>
              <a:off x="15125170" y="762871"/>
              <a:ext cx="1956349" cy="333487"/>
            </a:xfrm>
            <a:prstGeom prst="rect">
              <a:avLst/>
            </a:prstGeom>
            <a:noFill/>
            <a:ln>
              <a:noFill/>
            </a:ln>
          </p:spPr>
          <p:txBody>
            <a:bodyPr spcFirstLastPara="1" wrap="square" lIns="0" tIns="0" rIns="0" bIns="0" anchor="t" anchorCtr="0">
              <a:spAutoFit/>
            </a:bodyPr>
            <a:lstStyle/>
            <a:p>
              <a:pPr marL="0" marR="0" lvl="1" indent="0" algn="l" rtl="0">
                <a:lnSpc>
                  <a:spcPct val="140054"/>
                </a:lnSpc>
                <a:spcBef>
                  <a:spcPts val="0"/>
                </a:spcBef>
                <a:spcAft>
                  <a:spcPts val="0"/>
                </a:spcAft>
                <a:buNone/>
              </a:pPr>
              <a:r>
                <a:rPr lang="en-US" sz="729" b="0" i="0" u="none" strike="noStrike" cap="none">
                  <a:solidFill>
                    <a:srgbClr val="FFFFFF"/>
                  </a:solidFill>
                  <a:latin typeface="Times"/>
                  <a:ea typeface="Times"/>
                  <a:cs typeface="Times"/>
                  <a:sym typeface="Times"/>
                </a:rPr>
                <a:t>ACADEMY OF HIGHER EDUCATION</a:t>
              </a:r>
              <a:endParaRPr/>
            </a:p>
          </p:txBody>
        </p:sp>
        <p:sp>
          <p:nvSpPr>
            <p:cNvPr id="119" name="Google Shape;119;p1"/>
            <p:cNvSpPr txBox="1"/>
            <p:nvPr/>
          </p:nvSpPr>
          <p:spPr>
            <a:xfrm>
              <a:off x="15125170" y="1075295"/>
              <a:ext cx="1956349" cy="138570"/>
            </a:xfrm>
            <a:prstGeom prst="rect">
              <a:avLst/>
            </a:prstGeom>
            <a:noFill/>
            <a:ln>
              <a:noFill/>
            </a:ln>
          </p:spPr>
          <p:txBody>
            <a:bodyPr spcFirstLastPara="1" wrap="square" lIns="0" tIns="0" rIns="0" bIns="0" anchor="t" anchorCtr="0">
              <a:spAutoFit/>
            </a:bodyPr>
            <a:lstStyle/>
            <a:p>
              <a:pPr marL="0" marR="0" lvl="1" indent="0" algn="l" rtl="0">
                <a:lnSpc>
                  <a:spcPct val="139965"/>
                </a:lnSpc>
                <a:spcBef>
                  <a:spcPts val="0"/>
                </a:spcBef>
                <a:spcAft>
                  <a:spcPts val="0"/>
                </a:spcAft>
                <a:buNone/>
              </a:pPr>
              <a:r>
                <a:rPr lang="en-US" sz="573" b="0" i="1" u="none" strike="noStrike" cap="none">
                  <a:solidFill>
                    <a:srgbClr val="FFFFFF"/>
                  </a:solidFill>
                  <a:latin typeface="Times"/>
                  <a:ea typeface="Times"/>
                  <a:cs typeface="Times"/>
                  <a:sym typeface="Times"/>
                </a:rPr>
                <a:t>Institution of Embrace Diamant in the University</a:t>
              </a:r>
              <a:endParaRPr/>
            </a:p>
          </p:txBody>
        </p:sp>
      </p:grpSp>
      <p:sp>
        <p:nvSpPr>
          <p:cNvPr id="120" name="Google Shape;120;p1"/>
          <p:cNvSpPr txBox="1"/>
          <p:nvPr/>
        </p:nvSpPr>
        <p:spPr>
          <a:xfrm>
            <a:off x="1591320" y="6523502"/>
            <a:ext cx="7060311" cy="1943289"/>
          </a:xfrm>
          <a:prstGeom prst="rect">
            <a:avLst/>
          </a:prstGeom>
          <a:noFill/>
          <a:ln>
            <a:noFill/>
          </a:ln>
        </p:spPr>
        <p:txBody>
          <a:bodyPr spcFirstLastPara="1" wrap="square" lIns="0" tIns="0" rIns="0" bIns="0" anchor="t" anchorCtr="0">
            <a:spAutoFit/>
          </a:bodyPr>
          <a:lstStyle/>
          <a:p>
            <a:pPr marL="0" marR="0" lvl="0" indent="0" algn="just" rtl="0">
              <a:lnSpc>
                <a:spcPct val="120023"/>
              </a:lnSpc>
              <a:spcBef>
                <a:spcPts val="0"/>
              </a:spcBef>
              <a:spcAft>
                <a:spcPts val="0"/>
              </a:spcAft>
              <a:buNone/>
            </a:pPr>
            <a:r>
              <a:rPr lang="en-US" sz="2800" b="1" dirty="0">
                <a:latin typeface="Playfair Display SemiBold"/>
                <a:ea typeface="Playfair Display SemiBold"/>
                <a:cs typeface="Playfair Display SemiBold"/>
                <a:sym typeface="Playfair Display SemiBold"/>
              </a:rPr>
              <a:t>YOUR NAME: Pratham Pai</a:t>
            </a:r>
            <a:endParaRPr sz="2800" b="1" dirty="0">
              <a:latin typeface="Playfair Display SemiBold"/>
              <a:ea typeface="Playfair Display SemiBold"/>
              <a:cs typeface="Playfair Display SemiBold"/>
            </a:endParaRPr>
          </a:p>
          <a:p>
            <a:pPr marL="0" marR="0" lvl="0" indent="0" algn="just" rtl="0">
              <a:lnSpc>
                <a:spcPct val="91247"/>
              </a:lnSpc>
              <a:spcBef>
                <a:spcPts val="0"/>
              </a:spcBef>
              <a:spcAft>
                <a:spcPts val="0"/>
              </a:spcAft>
              <a:buNone/>
            </a:pPr>
            <a:endParaRPr sz="2800" b="1" dirty="0">
              <a:latin typeface="Playfair Display SemiBold"/>
              <a:ea typeface="Playfair Display SemiBold"/>
              <a:cs typeface="Playfair Display SemiBold"/>
              <a:sym typeface="Playfair Display SemiBold"/>
            </a:endParaRPr>
          </a:p>
          <a:p>
            <a:pPr marL="0" marR="0" lvl="0" indent="0" algn="just" rtl="0">
              <a:lnSpc>
                <a:spcPct val="120023"/>
              </a:lnSpc>
              <a:spcBef>
                <a:spcPts val="0"/>
              </a:spcBef>
              <a:spcAft>
                <a:spcPts val="0"/>
              </a:spcAft>
              <a:buNone/>
            </a:pPr>
            <a:r>
              <a:rPr lang="en-US" sz="2800" b="1" dirty="0">
                <a:latin typeface="Playfair Display SemiBold"/>
                <a:ea typeface="Playfair Display SemiBold"/>
                <a:cs typeface="Playfair Display SemiBold"/>
                <a:sym typeface="Playfair Display SemiBold"/>
              </a:rPr>
              <a:t>TEAM NAME: </a:t>
            </a:r>
            <a:r>
              <a:rPr lang="en-US" sz="2800" b="1" dirty="0" err="1" smtClean="0">
                <a:latin typeface="Playfair Display SemiBold"/>
                <a:ea typeface="Playfair Display SemiBold"/>
                <a:cs typeface="Playfair Display SemiBold"/>
                <a:sym typeface="Playfair Display SemiBold"/>
              </a:rPr>
              <a:t>recurSON</a:t>
            </a:r>
            <a:endParaRPr sz="2800" b="1" dirty="0">
              <a:latin typeface="Playfair Display SemiBold"/>
              <a:ea typeface="Playfair Display SemiBold"/>
              <a:cs typeface="Playfair Display SemiBold"/>
              <a:sym typeface="Playfair Display SemiBold"/>
            </a:endParaRPr>
          </a:p>
          <a:p>
            <a:pPr lvl="0" algn="just">
              <a:lnSpc>
                <a:spcPct val="120026"/>
              </a:lnSpc>
            </a:pPr>
            <a:r>
              <a:rPr lang="en-US" sz="2800" b="1" dirty="0">
                <a:latin typeface="Playfair Display SemiBold"/>
                <a:ea typeface="Playfair Display SemiBold"/>
                <a:cs typeface="Playfair Display SemiBold"/>
                <a:sym typeface="Playfair Display SemiBold"/>
              </a:rPr>
              <a:t>TRACK NO: </a:t>
            </a:r>
            <a:r>
              <a:rPr lang="en-IN" sz="2800" b="1" dirty="0">
                <a:latin typeface="Playfair Display SemiBold"/>
                <a:ea typeface="Playfair Display SemiBold"/>
                <a:cs typeface="Playfair Display SemiBold"/>
              </a:rPr>
              <a:t>T.03</a:t>
            </a:r>
            <a:endParaRPr sz="2800" b="1" dirty="0">
              <a:latin typeface="Playfair Display SemiBold"/>
              <a:ea typeface="Playfair Display SemiBold"/>
              <a:cs typeface="Playfair Display SemiBo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2"/>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l="-7180" t="-19076" r="-3000" b="-11427"/>
            </a:stretch>
          </a:blipFill>
          <a:ln>
            <a:noFill/>
          </a:ln>
        </p:spPr>
        <p:txBody>
          <a:bodyPr/>
          <a:lstStyle/>
          <a:p>
            <a:endParaRPr/>
          </a:p>
        </p:txBody>
      </p:sp>
      <p:sp>
        <p:nvSpPr>
          <p:cNvPr id="126" name="Google Shape;126;p2"/>
          <p:cNvSpPr/>
          <p:nvPr/>
        </p:nvSpPr>
        <p:spPr>
          <a:xfrm>
            <a:off x="5317038" y="-4518398"/>
            <a:ext cx="22188662" cy="18920878"/>
          </a:xfrm>
          <a:custGeom>
            <a:avLst/>
            <a:gdLst/>
            <a:ahLst/>
            <a:cxnLst/>
            <a:rect l="l" t="t" r="r" b="b"/>
            <a:pathLst>
              <a:path w="22188662" h="18920878" extrusionOk="0">
                <a:moveTo>
                  <a:pt x="0" y="0"/>
                </a:moveTo>
                <a:lnTo>
                  <a:pt x="22188663" y="0"/>
                </a:lnTo>
                <a:lnTo>
                  <a:pt x="22188663" y="18920878"/>
                </a:lnTo>
                <a:lnTo>
                  <a:pt x="0" y="18920878"/>
                </a:lnTo>
                <a:lnTo>
                  <a:pt x="0" y="0"/>
                </a:lnTo>
                <a:close/>
              </a:path>
            </a:pathLst>
          </a:custGeom>
          <a:blipFill rotWithShape="1">
            <a:blip r:embed="rId4">
              <a:alphaModFix/>
            </a:blip>
            <a:stretch>
              <a:fillRect/>
            </a:stretch>
          </a:blipFill>
          <a:ln>
            <a:noFill/>
          </a:ln>
        </p:spPr>
        <p:txBody>
          <a:bodyPr/>
          <a:lstStyle/>
          <a:p>
            <a:endParaRPr/>
          </a:p>
        </p:txBody>
      </p:sp>
      <p:sp>
        <p:nvSpPr>
          <p:cNvPr id="127" name="Google Shape;127;p2"/>
          <p:cNvSpPr txBox="1"/>
          <p:nvPr/>
        </p:nvSpPr>
        <p:spPr>
          <a:xfrm>
            <a:off x="1028700" y="838200"/>
            <a:ext cx="7685837" cy="1704975"/>
          </a:xfrm>
          <a:prstGeom prst="rect">
            <a:avLst/>
          </a:prstGeom>
          <a:noFill/>
          <a:ln>
            <a:noFill/>
          </a:ln>
        </p:spPr>
        <p:txBody>
          <a:bodyPr spcFirstLastPara="1" wrap="square" lIns="0" tIns="0" rIns="0" bIns="0" anchor="t" anchorCtr="0">
            <a:spAutoFit/>
          </a:bodyPr>
          <a:lstStyle/>
          <a:p>
            <a:pPr marL="0" marR="0" lvl="0" indent="0" algn="l" rtl="0">
              <a:lnSpc>
                <a:spcPct val="119993"/>
              </a:lnSpc>
              <a:spcBef>
                <a:spcPts val="0"/>
              </a:spcBef>
              <a:spcAft>
                <a:spcPts val="0"/>
              </a:spcAft>
              <a:buNone/>
            </a:pPr>
            <a:r>
              <a:rPr lang="en-US" sz="9978" b="0" i="0" u="none" strike="noStrike" cap="none">
                <a:solidFill>
                  <a:srgbClr val="5DE0E6"/>
                </a:solidFill>
                <a:latin typeface="Times"/>
                <a:ea typeface="Times"/>
                <a:cs typeface="Times"/>
                <a:sym typeface="Times"/>
              </a:rPr>
              <a:t>Solution</a:t>
            </a:r>
            <a:endParaRPr/>
          </a:p>
        </p:txBody>
      </p:sp>
      <p:sp>
        <p:nvSpPr>
          <p:cNvPr id="128" name="TextBox 127"/>
          <p:cNvSpPr txBox="1"/>
          <p:nvPr/>
        </p:nvSpPr>
        <p:spPr>
          <a:xfrm>
            <a:off x="1028700" y="2606040"/>
            <a:ext cx="7635240" cy="320040"/>
          </a:xfrm>
          <a:prstGeom prst="rect">
            <a:avLst/>
          </a:prstGeom>
          <a:noFill/>
        </p:spPr>
        <p:txBody>
          <a:bodyPr wrap="square" lIns="0" tIns="0" rIns="0" bIns="0" anchor="t">
            <a:spAutoFit/>
          </a:bodyPr>
          <a:lstStyle/>
          <a:p>
            <a:pPr algn="l"/>
            <a:r>
              <a:rPr sz="1500" b="1" i="0">
                <a:solidFill>
                  <a:srgbClr val="0B7A80"/>
                </a:solidFill>
                <a:latin typeface="Arial"/>
              </a:rPr>
              <a:t>THE PROBLEM</a:t>
            </a:r>
          </a:p>
        </p:txBody>
      </p:sp>
      <p:sp>
        <p:nvSpPr>
          <p:cNvPr id="129" name="TextBox 128"/>
          <p:cNvSpPr txBox="1"/>
          <p:nvPr/>
        </p:nvSpPr>
        <p:spPr>
          <a:xfrm>
            <a:off x="1028700" y="2926080"/>
            <a:ext cx="7635240" cy="1188720"/>
          </a:xfrm>
          <a:prstGeom prst="rect">
            <a:avLst/>
          </a:prstGeom>
          <a:noFill/>
        </p:spPr>
        <p:txBody>
          <a:bodyPr wrap="square" lIns="0" tIns="0" rIns="0" bIns="0" anchor="t">
            <a:spAutoFit/>
          </a:bodyPr>
          <a:lstStyle/>
          <a:p>
            <a:pPr algn="l"/>
            <a:r>
              <a:rPr sz="3000" b="1" i="0">
                <a:solidFill>
                  <a:srgbClr val="0F2A3D"/>
                </a:solidFill>
                <a:latin typeface="Arial"/>
              </a:rPr>
              <a:t>You approved the tool.</a:t>
            </a:r>
            <a:r>
              <a:rPr sz="3000" b="1" i="0">
                <a:solidFill>
                  <a:srgbClr val="0B7A80"/>
                </a:solidFill>
                <a:latin typeface="Arial"/>
              </a:rPr>
              <a:t> You didn't approve what the model reads.</a:t>
            </a:r>
          </a:p>
        </p:txBody>
      </p:sp>
      <p:sp>
        <p:nvSpPr>
          <p:cNvPr id="130" name="TextBox 129"/>
          <p:cNvSpPr txBox="1"/>
          <p:nvPr/>
        </p:nvSpPr>
        <p:spPr>
          <a:xfrm>
            <a:off x="1028700" y="4206240"/>
            <a:ext cx="7635240" cy="1005840"/>
          </a:xfrm>
          <a:prstGeom prst="rect">
            <a:avLst/>
          </a:prstGeom>
          <a:noFill/>
        </p:spPr>
        <p:txBody>
          <a:bodyPr wrap="square" lIns="0" tIns="0" rIns="0" bIns="0" anchor="t">
            <a:spAutoFit/>
          </a:bodyPr>
          <a:lstStyle/>
          <a:p>
            <a:pPr algn="l"/>
            <a:r>
              <a:rPr sz="1600" b="0" i="0">
                <a:solidFill>
                  <a:srgbClr val="33475B"/>
                </a:solidFill>
                <a:latin typeface="Arial"/>
              </a:rPr>
              <a:t>AI agents load tools from third-party MCP servers. The model reads every tool's full description and schema, but the human approves only a short rendered summary. Whatever sits in that gap is an attack surface.</a:t>
            </a:r>
          </a:p>
        </p:txBody>
      </p:sp>
      <p:sp>
        <p:nvSpPr>
          <p:cNvPr id="131" name="Oval 130"/>
          <p:cNvSpPr/>
          <p:nvPr/>
        </p:nvSpPr>
        <p:spPr>
          <a:xfrm>
            <a:off x="1028700" y="5486400"/>
            <a:ext cx="502920" cy="502920"/>
          </a:xfrm>
          <a:prstGeom prst="ellipse">
            <a:avLst/>
          </a:prstGeom>
          <a:solidFill>
            <a:srgbClr val="C62828"/>
          </a:solidFill>
          <a:ln>
            <a:noFill/>
          </a:ln>
          <a:effectLst/>
        </p:spPr>
        <p:txBody>
          <a:bodyPr wrap="square" lIns="0" tIns="0" rIns="0" bIns="0" rtlCol="0" anchor="ctr"/>
          <a:lstStyle/>
          <a:p>
            <a:pPr algn="ctr"/>
            <a:r>
              <a:rPr sz="1800" b="1" i="0">
                <a:solidFill>
                  <a:srgbClr val="FFFFFF"/>
                </a:solidFill>
                <a:latin typeface="Arial"/>
              </a:rPr>
              <a:t>!</a:t>
            </a:r>
          </a:p>
        </p:txBody>
      </p:sp>
      <p:sp>
        <p:nvSpPr>
          <p:cNvPr id="132" name="TextBox 131"/>
          <p:cNvSpPr txBox="1"/>
          <p:nvPr/>
        </p:nvSpPr>
        <p:spPr>
          <a:xfrm>
            <a:off x="1760220" y="5440680"/>
            <a:ext cx="6903720" cy="777240"/>
          </a:xfrm>
          <a:prstGeom prst="rect">
            <a:avLst/>
          </a:prstGeom>
          <a:noFill/>
        </p:spPr>
        <p:txBody>
          <a:bodyPr wrap="square" lIns="0" tIns="0" rIns="0" bIns="0" anchor="t">
            <a:spAutoFit/>
          </a:bodyPr>
          <a:lstStyle/>
          <a:p>
            <a:pPr algn="l"/>
            <a:r>
              <a:rPr sz="1700" b="1" i="0">
                <a:solidFill>
                  <a:srgbClr val="0F2A3D"/>
                </a:solidFill>
                <a:latin typeface="Arial"/>
              </a:rPr>
              <a:t>Tool poisoning  </a:t>
            </a:r>
            <a:r>
              <a:rPr sz="1500" b="0" i="0">
                <a:solidFill>
                  <a:srgbClr val="33475B"/>
                </a:solidFill>
                <a:latin typeface="Arial"/>
              </a:rPr>
              <a:t>Hidden instructions in a tool description: “read ~/.ssh and send it here”.</a:t>
            </a:r>
          </a:p>
        </p:txBody>
      </p:sp>
      <p:sp>
        <p:nvSpPr>
          <p:cNvPr id="133" name="Oval 132"/>
          <p:cNvSpPr/>
          <p:nvPr/>
        </p:nvSpPr>
        <p:spPr>
          <a:xfrm>
            <a:off x="1028700" y="6355080"/>
            <a:ext cx="502920" cy="502920"/>
          </a:xfrm>
          <a:prstGeom prst="ellipse">
            <a:avLst/>
          </a:prstGeom>
          <a:solidFill>
            <a:srgbClr val="5E3FA3"/>
          </a:solidFill>
          <a:ln>
            <a:noFill/>
          </a:ln>
          <a:effectLst/>
        </p:spPr>
        <p:txBody>
          <a:bodyPr wrap="square" lIns="0" tIns="0" rIns="0" bIns="0" rtlCol="0" anchor="ctr"/>
          <a:lstStyle/>
          <a:p>
            <a:pPr algn="ctr"/>
            <a:r>
              <a:rPr sz="1800" b="1" i="0">
                <a:solidFill>
                  <a:srgbClr val="FFFFFF"/>
                </a:solidFill>
                <a:latin typeface="Arial"/>
              </a:rPr>
              <a:t>?</a:t>
            </a:r>
          </a:p>
        </p:txBody>
      </p:sp>
      <p:sp>
        <p:nvSpPr>
          <p:cNvPr id="134" name="TextBox 133"/>
          <p:cNvSpPr txBox="1"/>
          <p:nvPr/>
        </p:nvSpPr>
        <p:spPr>
          <a:xfrm>
            <a:off x="1760220" y="6309360"/>
            <a:ext cx="6903720" cy="777240"/>
          </a:xfrm>
          <a:prstGeom prst="rect">
            <a:avLst/>
          </a:prstGeom>
          <a:noFill/>
        </p:spPr>
        <p:txBody>
          <a:bodyPr wrap="square" lIns="0" tIns="0" rIns="0" bIns="0" anchor="t">
            <a:spAutoFit/>
          </a:bodyPr>
          <a:lstStyle/>
          <a:p>
            <a:pPr algn="l"/>
            <a:r>
              <a:rPr sz="1700" b="1" i="0">
                <a:solidFill>
                  <a:srgbClr val="0F2A3D"/>
                </a:solidFill>
                <a:latin typeface="Arial"/>
              </a:rPr>
              <a:t>Invisible text  </a:t>
            </a:r>
            <a:r>
              <a:rPr sz="1500" b="0" i="0">
                <a:solidFill>
                  <a:srgbClr val="33475B"/>
                </a:solidFill>
                <a:latin typeface="Arial"/>
              </a:rPr>
              <a:t>Unicode tag characters render as nothing on screen but reach the model in full.</a:t>
            </a:r>
          </a:p>
        </p:txBody>
      </p:sp>
      <p:sp>
        <p:nvSpPr>
          <p:cNvPr id="135" name="Oval 134"/>
          <p:cNvSpPr/>
          <p:nvPr/>
        </p:nvSpPr>
        <p:spPr>
          <a:xfrm>
            <a:off x="1028700" y="7223760"/>
            <a:ext cx="502920" cy="502920"/>
          </a:xfrm>
          <a:prstGeom prst="ellipse">
            <a:avLst/>
          </a:prstGeom>
          <a:solidFill>
            <a:srgbClr val="A85F00"/>
          </a:solidFill>
          <a:ln>
            <a:noFill/>
          </a:ln>
          <a:effectLst/>
        </p:spPr>
        <p:txBody>
          <a:bodyPr wrap="square" lIns="0" tIns="0" rIns="0" bIns="0" rtlCol="0" anchor="ctr"/>
          <a:lstStyle/>
          <a:p>
            <a:pPr algn="ctr"/>
            <a:r>
              <a:rPr sz="1800" b="1" i="0">
                <a:solidFill>
                  <a:srgbClr val="FFFFFF"/>
                </a:solidFill>
                <a:latin typeface="Arial"/>
              </a:rPr>
              <a:t>↻</a:t>
            </a:r>
          </a:p>
        </p:txBody>
      </p:sp>
      <p:sp>
        <p:nvSpPr>
          <p:cNvPr id="136" name="TextBox 135"/>
          <p:cNvSpPr txBox="1"/>
          <p:nvPr/>
        </p:nvSpPr>
        <p:spPr>
          <a:xfrm>
            <a:off x="1760220" y="7178040"/>
            <a:ext cx="6903720" cy="777240"/>
          </a:xfrm>
          <a:prstGeom prst="rect">
            <a:avLst/>
          </a:prstGeom>
          <a:noFill/>
        </p:spPr>
        <p:txBody>
          <a:bodyPr wrap="square" lIns="0" tIns="0" rIns="0" bIns="0" anchor="t">
            <a:spAutoFit/>
          </a:bodyPr>
          <a:lstStyle/>
          <a:p>
            <a:pPr algn="l"/>
            <a:r>
              <a:rPr sz="1700" b="1" i="0">
                <a:solidFill>
                  <a:srgbClr val="0F2A3D"/>
                </a:solidFill>
                <a:latin typeface="Arial"/>
              </a:rPr>
              <a:t>Rug pull  </a:t>
            </a:r>
            <a:r>
              <a:rPr sz="1500" b="0" i="0">
                <a:solidFill>
                  <a:srgbClr val="33475B"/>
                </a:solidFill>
                <a:latin typeface="Arial"/>
              </a:rPr>
              <a:t>The tool silently changes its definition after you approved it.</a:t>
            </a:r>
          </a:p>
        </p:txBody>
      </p:sp>
      <p:sp>
        <p:nvSpPr>
          <p:cNvPr id="137" name="Rounded Rectangle 136"/>
          <p:cNvSpPr/>
          <p:nvPr/>
        </p:nvSpPr>
        <p:spPr>
          <a:xfrm>
            <a:off x="1028700" y="8183879"/>
            <a:ext cx="7635240" cy="1463040"/>
          </a:xfrm>
          <a:prstGeom prst="roundRect">
            <a:avLst>
              <a:gd name="adj" fmla="val 8000"/>
            </a:avLst>
          </a:prstGeom>
          <a:solidFill>
            <a:srgbClr val="EAF6F8"/>
          </a:solidFill>
          <a:ln>
            <a:noFill/>
          </a:ln>
          <a:effectLst/>
        </p:spPr>
        <p:txBody>
          <a:bodyPr wrap="square" lIns="201168" tIns="120700" rIns="201168" bIns="120700" rtlCol="0" anchor="ctr"/>
          <a:lstStyle/>
          <a:p>
            <a:pPr algn="l"/>
            <a:r>
              <a:rPr sz="1300" b="1" i="0">
                <a:solidFill>
                  <a:srgbClr val="0B7A80"/>
                </a:solidFill>
                <a:latin typeface="Arial"/>
              </a:rPr>
              <a:t>WHY NOW  </a:t>
            </a:r>
          </a:p>
          <a:p>
            <a:pPr algn="l"/>
            <a:r>
              <a:rPr sz="1400" b="1" i="0">
                <a:solidFill>
                  <a:srgbClr val="33475B"/>
                </a:solidFill>
                <a:latin typeface="Arial"/>
              </a:rPr>
              <a:t>Apr 2025: </a:t>
            </a:r>
            <a:r>
              <a:rPr sz="1400" b="0" i="0">
                <a:solidFill>
                  <a:srgbClr val="33475B"/>
                </a:solidFill>
                <a:latin typeface="Arial"/>
              </a:rPr>
              <a:t>Invariant Labs showed a poisoned MCP tool making Cursor leak SSH keys, and that tools can change after approval.</a:t>
            </a:r>
          </a:p>
          <a:p>
            <a:pPr algn="l"/>
            <a:r>
              <a:rPr sz="1400" b="1" i="0">
                <a:solidFill>
                  <a:srgbClr val="33475B"/>
                </a:solidFill>
                <a:latin typeface="Arial"/>
              </a:rPr>
              <a:t>OWASP MCP Top 10 </a:t>
            </a:r>
            <a:r>
              <a:rPr sz="1400" b="0" i="0">
                <a:solidFill>
                  <a:srgbClr val="33475B"/>
                </a:solidFill>
                <a:latin typeface="Arial"/>
              </a:rPr>
              <a:t>lists Tool Poisoning as MCP03:2025.</a:t>
            </a:r>
          </a:p>
        </p:txBody>
      </p:sp>
      <p:sp>
        <p:nvSpPr>
          <p:cNvPr id="138" name="Solution card"/>
          <p:cNvSpPr/>
          <p:nvPr/>
        </p:nvSpPr>
        <p:spPr>
          <a:xfrm>
            <a:off x="9281160" y="2606040"/>
            <a:ext cx="8001000" cy="7040880"/>
          </a:xfrm>
          <a:prstGeom prst="roundRect">
            <a:avLst>
              <a:gd name="adj" fmla="val 4000"/>
            </a:avLst>
          </a:prstGeom>
          <a:solidFill>
            <a:srgbClr val="FFFFFF"/>
          </a:solidFill>
          <a:ln w="12700">
            <a:solidFill>
              <a:srgbClr val="C9DAE3"/>
            </a:solidFill>
          </a:ln>
          <a:effectLst>
            <a:outerShdw blurRad="190500" dist="38100" dir="5400000" algn="t" rotWithShape="0">
              <a:srgbClr val="0F2A3D">
                <a:alpha val="14000"/>
              </a:srgbClr>
            </a:outerShdw>
          </a:effectLst>
        </p:spPr>
        <p:txBody>
          <a:bodyPr wrap="square" lIns="109728" tIns="65836" rIns="109728" bIns="65836" rtlCol="0" anchor="ctr"/>
          <a:lstStyle/>
          <a:p>
            <a:pPr algn="ctr"/>
            <a:endParaRPr/>
          </a:p>
        </p:txBody>
      </p:sp>
      <p:sp>
        <p:nvSpPr>
          <p:cNvPr id="139" name="TextBox 138"/>
          <p:cNvSpPr txBox="1"/>
          <p:nvPr/>
        </p:nvSpPr>
        <p:spPr>
          <a:xfrm>
            <a:off x="9692640" y="2880360"/>
            <a:ext cx="7178040" cy="320040"/>
          </a:xfrm>
          <a:prstGeom prst="rect">
            <a:avLst/>
          </a:prstGeom>
          <a:noFill/>
        </p:spPr>
        <p:txBody>
          <a:bodyPr wrap="square" lIns="0" tIns="0" rIns="0" bIns="0" anchor="t">
            <a:spAutoFit/>
          </a:bodyPr>
          <a:lstStyle/>
          <a:p>
            <a:pPr algn="l"/>
            <a:r>
              <a:rPr sz="1500" b="1" i="0">
                <a:solidFill>
                  <a:srgbClr val="0B7A80"/>
                </a:solidFill>
                <a:latin typeface="Arial"/>
              </a:rPr>
              <a:t>OUR SOLUTION · FILIGREE</a:t>
            </a:r>
            <a:r>
              <a:rPr sz="1300" b="0" i="1">
                <a:solidFill>
                  <a:srgbClr val="5B6F82"/>
                </a:solidFill>
                <a:latin typeface="Arial"/>
              </a:rPr>
              <a:t>   Every last character, accounted for.</a:t>
            </a:r>
          </a:p>
        </p:txBody>
      </p:sp>
      <p:sp>
        <p:nvSpPr>
          <p:cNvPr id="140" name="TextBox 139"/>
          <p:cNvSpPr txBox="1"/>
          <p:nvPr/>
        </p:nvSpPr>
        <p:spPr>
          <a:xfrm>
            <a:off x="9692640" y="3200400"/>
            <a:ext cx="7178040" cy="640080"/>
          </a:xfrm>
          <a:prstGeom prst="rect">
            <a:avLst/>
          </a:prstGeom>
          <a:noFill/>
        </p:spPr>
        <p:txBody>
          <a:bodyPr wrap="square" lIns="0" tIns="0" rIns="0" bIns="0" anchor="t">
            <a:spAutoFit/>
          </a:bodyPr>
          <a:lstStyle/>
          <a:p>
            <a:pPr algn="l"/>
            <a:r>
              <a:rPr sz="2600" b="1" i="0">
                <a:solidFill>
                  <a:srgbClr val="0F2A3D"/>
                </a:solidFill>
                <a:latin typeface="Arial"/>
              </a:rPr>
              <a:t>Approval Integrity for AI-agent tools</a:t>
            </a:r>
          </a:p>
        </p:txBody>
      </p:sp>
      <p:sp>
        <p:nvSpPr>
          <p:cNvPr id="141" name="TextBox 140"/>
          <p:cNvSpPr txBox="1"/>
          <p:nvPr/>
        </p:nvSpPr>
        <p:spPr>
          <a:xfrm>
            <a:off x="9692640" y="3840480"/>
            <a:ext cx="7178040" cy="731520"/>
          </a:xfrm>
          <a:prstGeom prst="rect">
            <a:avLst/>
          </a:prstGeom>
          <a:noFill/>
        </p:spPr>
        <p:txBody>
          <a:bodyPr wrap="square" lIns="0" tIns="0" rIns="0" bIns="0" anchor="t">
            <a:spAutoFit/>
          </a:bodyPr>
          <a:lstStyle/>
          <a:p>
            <a:pPr algn="l"/>
            <a:r>
              <a:rPr sz="1500" b="0" i="0">
                <a:solidFill>
                  <a:srgbClr val="33475B"/>
                </a:solidFill>
                <a:latin typeface="Arial"/>
              </a:rPr>
              <a:t>A tool may run only while all three representations are the same object, checked at every call:</a:t>
            </a:r>
          </a:p>
        </p:txBody>
      </p:sp>
      <p:sp>
        <p:nvSpPr>
          <p:cNvPr id="142" name="Rounded Rectangle 141"/>
          <p:cNvSpPr/>
          <p:nvPr/>
        </p:nvSpPr>
        <p:spPr>
          <a:xfrm>
            <a:off x="9692640" y="4663440"/>
            <a:ext cx="1783080" cy="731520"/>
          </a:xfrm>
          <a:prstGeom prst="roundRect">
            <a:avLst>
              <a:gd name="adj" fmla="val 8000"/>
            </a:avLst>
          </a:prstGeom>
          <a:solidFill>
            <a:srgbClr val="EAF6F8"/>
          </a:solidFill>
          <a:ln w="15875">
            <a:solidFill>
              <a:srgbClr val="0B7A80"/>
            </a:solidFill>
          </a:ln>
          <a:effectLst/>
        </p:spPr>
        <p:txBody>
          <a:bodyPr wrap="square" lIns="45720" tIns="27432" rIns="45720" bIns="27432" rtlCol="0" anchor="ctr"/>
          <a:lstStyle/>
          <a:p>
            <a:pPr algn="ctr"/>
            <a:r>
              <a:rPr sz="1300" b="1" i="0">
                <a:solidFill>
                  <a:srgbClr val="0F2A3D"/>
                </a:solidFill>
                <a:latin typeface="Arial"/>
              </a:rPr>
              <a:t>Human-approved</a:t>
            </a:r>
          </a:p>
        </p:txBody>
      </p:sp>
      <p:sp>
        <p:nvSpPr>
          <p:cNvPr id="143" name="TextBox 142"/>
          <p:cNvSpPr txBox="1"/>
          <p:nvPr/>
        </p:nvSpPr>
        <p:spPr>
          <a:xfrm>
            <a:off x="11475719" y="4663440"/>
            <a:ext cx="292608" cy="731520"/>
          </a:xfrm>
          <a:prstGeom prst="rect">
            <a:avLst/>
          </a:prstGeom>
          <a:noFill/>
        </p:spPr>
        <p:txBody>
          <a:bodyPr wrap="square" lIns="0" tIns="0" rIns="0" bIns="0" anchor="ctr">
            <a:spAutoFit/>
          </a:bodyPr>
          <a:lstStyle/>
          <a:p>
            <a:pPr algn="ctr"/>
            <a:r>
              <a:rPr sz="2400" b="1" i="0">
                <a:solidFill>
                  <a:srgbClr val="0B7A80"/>
                </a:solidFill>
                <a:latin typeface="Arial"/>
              </a:rPr>
              <a:t>=</a:t>
            </a:r>
          </a:p>
        </p:txBody>
      </p:sp>
      <p:sp>
        <p:nvSpPr>
          <p:cNvPr id="144" name="Rounded Rectangle 143"/>
          <p:cNvSpPr/>
          <p:nvPr/>
        </p:nvSpPr>
        <p:spPr>
          <a:xfrm>
            <a:off x="11768328" y="4663440"/>
            <a:ext cx="1783080" cy="731520"/>
          </a:xfrm>
          <a:prstGeom prst="roundRect">
            <a:avLst>
              <a:gd name="adj" fmla="val 8000"/>
            </a:avLst>
          </a:prstGeom>
          <a:solidFill>
            <a:srgbClr val="EAF6F8"/>
          </a:solidFill>
          <a:ln w="15875">
            <a:solidFill>
              <a:srgbClr val="0B7A80"/>
            </a:solidFill>
          </a:ln>
          <a:effectLst/>
        </p:spPr>
        <p:txBody>
          <a:bodyPr wrap="square" lIns="45720" tIns="27432" rIns="45720" bIns="27432" rtlCol="0" anchor="ctr"/>
          <a:lstStyle/>
          <a:p>
            <a:pPr algn="ctr"/>
            <a:r>
              <a:rPr sz="1300" b="1" i="0">
                <a:solidFill>
                  <a:srgbClr val="0F2A3D"/>
                </a:solidFill>
                <a:latin typeface="Arial"/>
              </a:rPr>
              <a:t>Model-visible</a:t>
            </a:r>
          </a:p>
        </p:txBody>
      </p:sp>
      <p:sp>
        <p:nvSpPr>
          <p:cNvPr id="145" name="TextBox 144"/>
          <p:cNvSpPr txBox="1"/>
          <p:nvPr/>
        </p:nvSpPr>
        <p:spPr>
          <a:xfrm>
            <a:off x="13551407" y="4663440"/>
            <a:ext cx="292608" cy="731520"/>
          </a:xfrm>
          <a:prstGeom prst="rect">
            <a:avLst/>
          </a:prstGeom>
          <a:noFill/>
        </p:spPr>
        <p:txBody>
          <a:bodyPr wrap="square" lIns="0" tIns="0" rIns="0" bIns="0" anchor="ctr">
            <a:spAutoFit/>
          </a:bodyPr>
          <a:lstStyle/>
          <a:p>
            <a:pPr algn="ctr"/>
            <a:r>
              <a:rPr sz="2400" b="1" i="0">
                <a:solidFill>
                  <a:srgbClr val="0B7A80"/>
                </a:solidFill>
                <a:latin typeface="Arial"/>
              </a:rPr>
              <a:t>=</a:t>
            </a:r>
          </a:p>
        </p:txBody>
      </p:sp>
      <p:sp>
        <p:nvSpPr>
          <p:cNvPr id="146" name="Rounded Rectangle 145"/>
          <p:cNvSpPr/>
          <p:nvPr/>
        </p:nvSpPr>
        <p:spPr>
          <a:xfrm>
            <a:off x="13844016" y="4663440"/>
            <a:ext cx="1783080" cy="731520"/>
          </a:xfrm>
          <a:prstGeom prst="roundRect">
            <a:avLst>
              <a:gd name="adj" fmla="val 8000"/>
            </a:avLst>
          </a:prstGeom>
          <a:solidFill>
            <a:srgbClr val="EAF6F8"/>
          </a:solidFill>
          <a:ln w="15875">
            <a:solidFill>
              <a:srgbClr val="0B7A80"/>
            </a:solidFill>
          </a:ln>
          <a:effectLst/>
        </p:spPr>
        <p:txBody>
          <a:bodyPr wrap="square" lIns="45720" tIns="27432" rIns="45720" bIns="27432" rtlCol="0" anchor="ctr"/>
          <a:lstStyle/>
          <a:p>
            <a:pPr algn="ctr"/>
            <a:r>
              <a:rPr sz="1300" b="1" i="0">
                <a:solidFill>
                  <a:srgbClr val="0F2A3D"/>
                </a:solidFill>
                <a:latin typeface="Arial"/>
              </a:rPr>
              <a:t>Execution-bound</a:t>
            </a:r>
          </a:p>
        </p:txBody>
      </p:sp>
      <p:cxnSp>
        <p:nvCxnSpPr>
          <p:cNvPr id="147" name="Connector 146"/>
          <p:cNvCxnSpPr/>
          <p:nvPr/>
        </p:nvCxnSpPr>
        <p:spPr>
          <a:xfrm>
            <a:off x="15700247" y="5029200"/>
            <a:ext cx="292608" cy="0"/>
          </a:xfrm>
          <a:prstGeom prst="line">
            <a:avLst/>
          </a:prstGeom>
          <a:ln w="28575">
            <a:solidFill>
              <a:srgbClr val="1E7B4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8" name="Rounded Rectangle 147"/>
          <p:cNvSpPr/>
          <p:nvPr/>
        </p:nvSpPr>
        <p:spPr>
          <a:xfrm>
            <a:off x="16038576" y="4754879"/>
            <a:ext cx="832104" cy="548640"/>
          </a:xfrm>
          <a:prstGeom prst="roundRect">
            <a:avLst>
              <a:gd name="adj" fmla="val 8000"/>
            </a:avLst>
          </a:prstGeom>
          <a:solidFill>
            <a:srgbClr val="1E7B4F"/>
          </a:solidFill>
          <a:ln>
            <a:noFill/>
          </a:ln>
          <a:effectLst/>
        </p:spPr>
        <p:txBody>
          <a:bodyPr wrap="square" lIns="18288" tIns="10972" rIns="18288" bIns="10972" rtlCol="0" anchor="ctr"/>
          <a:lstStyle/>
          <a:p>
            <a:pPr algn="ctr"/>
            <a:r>
              <a:rPr sz="1300" b="1" i="0">
                <a:solidFill>
                  <a:srgbClr val="FFFFFF"/>
                </a:solidFill>
                <a:latin typeface="Arial"/>
              </a:rPr>
              <a:t>RUN</a:t>
            </a:r>
          </a:p>
        </p:txBody>
      </p:sp>
      <p:sp>
        <p:nvSpPr>
          <p:cNvPr id="149" name="TextBox 148"/>
          <p:cNvSpPr txBox="1"/>
          <p:nvPr/>
        </p:nvSpPr>
        <p:spPr>
          <a:xfrm>
            <a:off x="9692640" y="5468112"/>
            <a:ext cx="7178040" cy="365760"/>
          </a:xfrm>
          <a:prstGeom prst="rect">
            <a:avLst/>
          </a:prstGeom>
          <a:noFill/>
        </p:spPr>
        <p:txBody>
          <a:bodyPr wrap="square" lIns="0" tIns="0" rIns="0" bIns="0" anchor="t">
            <a:spAutoFit/>
          </a:bodyPr>
          <a:lstStyle/>
          <a:p>
            <a:pPr algn="l"/>
            <a:r>
              <a:rPr sz="1400" b="0" i="0">
                <a:solidFill>
                  <a:srgbClr val="33475B"/>
                </a:solidFill>
                <a:latin typeface="Arial"/>
              </a:rPr>
              <a:t>Any mismatch → </a:t>
            </a:r>
            <a:r>
              <a:rPr sz="1400" b="1" i="0">
                <a:solidFill>
                  <a:srgbClr val="C62828"/>
                </a:solidFill>
                <a:latin typeface="Arial"/>
              </a:rPr>
              <a:t>APPROVAL INVALID → BLOCK</a:t>
            </a:r>
          </a:p>
        </p:txBody>
      </p:sp>
      <p:sp>
        <p:nvSpPr>
          <p:cNvPr id="150" name="Oval 149"/>
          <p:cNvSpPr/>
          <p:nvPr/>
        </p:nvSpPr>
        <p:spPr>
          <a:xfrm>
            <a:off x="9692640" y="6025896"/>
            <a:ext cx="420624" cy="420624"/>
          </a:xfrm>
          <a:prstGeom prst="ellipse">
            <a:avLst/>
          </a:prstGeom>
          <a:solidFill>
            <a:srgbClr val="0B7A80"/>
          </a:solidFill>
          <a:ln>
            <a:noFill/>
          </a:ln>
          <a:effectLst/>
        </p:spPr>
        <p:txBody>
          <a:bodyPr wrap="square" lIns="0" tIns="0" rIns="0" bIns="0" rtlCol="0" anchor="ctr"/>
          <a:lstStyle/>
          <a:p>
            <a:pPr algn="ctr"/>
            <a:r>
              <a:rPr sz="1500" b="1" i="0">
                <a:solidFill>
                  <a:srgbClr val="FFFFFF"/>
                </a:solidFill>
                <a:latin typeface="Arial"/>
              </a:rPr>
              <a:t>1</a:t>
            </a:r>
          </a:p>
        </p:txBody>
      </p:sp>
      <p:sp>
        <p:nvSpPr>
          <p:cNvPr id="151" name="TextBox 150"/>
          <p:cNvSpPr txBox="1"/>
          <p:nvPr/>
        </p:nvSpPr>
        <p:spPr>
          <a:xfrm>
            <a:off x="10287000" y="5989320"/>
            <a:ext cx="6583680" cy="731520"/>
          </a:xfrm>
          <a:prstGeom prst="rect">
            <a:avLst/>
          </a:prstGeom>
          <a:noFill/>
        </p:spPr>
        <p:txBody>
          <a:bodyPr wrap="square" lIns="0" tIns="0" rIns="0" bIns="0" anchor="t">
            <a:spAutoFit/>
          </a:bodyPr>
          <a:lstStyle/>
          <a:p>
            <a:pPr algn="l"/>
            <a:r>
              <a:rPr sz="1500" b="1" i="0">
                <a:solidFill>
                  <a:srgbClr val="0F2A3D"/>
                </a:solidFill>
                <a:latin typeface="Arial"/>
              </a:rPr>
              <a:t>Capture </a:t>
            </a:r>
            <a:r>
              <a:rPr sz="1500" b="0" i="0">
                <a:solidFill>
                  <a:srgbClr val="33475B"/>
                </a:solidFill>
                <a:latin typeface="Arial"/>
              </a:rPr>
              <a:t>the exact tool object handed to the agent, with nothing stripped or normalised.</a:t>
            </a:r>
          </a:p>
        </p:txBody>
      </p:sp>
      <p:sp>
        <p:nvSpPr>
          <p:cNvPr id="152" name="Oval 151"/>
          <p:cNvSpPr/>
          <p:nvPr/>
        </p:nvSpPr>
        <p:spPr>
          <a:xfrm>
            <a:off x="9692640" y="6867144"/>
            <a:ext cx="420624" cy="420624"/>
          </a:xfrm>
          <a:prstGeom prst="ellipse">
            <a:avLst/>
          </a:prstGeom>
          <a:solidFill>
            <a:srgbClr val="0B7A80"/>
          </a:solidFill>
          <a:ln>
            <a:noFill/>
          </a:ln>
          <a:effectLst/>
        </p:spPr>
        <p:txBody>
          <a:bodyPr wrap="square" lIns="0" tIns="0" rIns="0" bIns="0" rtlCol="0" anchor="ctr"/>
          <a:lstStyle/>
          <a:p>
            <a:pPr algn="ctr"/>
            <a:r>
              <a:rPr sz="1500" b="1" i="0">
                <a:solidFill>
                  <a:srgbClr val="FFFFFF"/>
                </a:solidFill>
                <a:latin typeface="Arial"/>
              </a:rPr>
              <a:t>2</a:t>
            </a:r>
          </a:p>
        </p:txBody>
      </p:sp>
      <p:sp>
        <p:nvSpPr>
          <p:cNvPr id="153" name="TextBox 152"/>
          <p:cNvSpPr txBox="1"/>
          <p:nvPr/>
        </p:nvSpPr>
        <p:spPr>
          <a:xfrm>
            <a:off x="10287000" y="6830568"/>
            <a:ext cx="6583680" cy="731520"/>
          </a:xfrm>
          <a:prstGeom prst="rect">
            <a:avLst/>
          </a:prstGeom>
          <a:noFill/>
        </p:spPr>
        <p:txBody>
          <a:bodyPr wrap="square" lIns="0" tIns="0" rIns="0" bIns="0" anchor="t">
            <a:spAutoFit/>
          </a:bodyPr>
          <a:lstStyle/>
          <a:p>
            <a:pPr algn="l"/>
            <a:r>
              <a:rPr sz="1500" b="1" i="0">
                <a:solidFill>
                  <a:srgbClr val="0F2A3D"/>
                </a:solidFill>
                <a:latin typeface="Arial"/>
              </a:rPr>
              <a:t>Reveal </a:t>
            </a:r>
            <a:r>
              <a:rPr sz="1500" b="0" i="0">
                <a:solidFill>
                  <a:srgbClr val="33475B"/>
                </a:solidFill>
                <a:latin typeface="Arial"/>
              </a:rPr>
              <a:t>it side by side with what the human sees, with hidden characters decoded.</a:t>
            </a:r>
          </a:p>
        </p:txBody>
      </p:sp>
      <p:sp>
        <p:nvSpPr>
          <p:cNvPr id="154" name="Oval 153"/>
          <p:cNvSpPr/>
          <p:nvPr/>
        </p:nvSpPr>
        <p:spPr>
          <a:xfrm>
            <a:off x="9692640" y="7708392"/>
            <a:ext cx="420624" cy="420624"/>
          </a:xfrm>
          <a:prstGeom prst="ellipse">
            <a:avLst/>
          </a:prstGeom>
          <a:solidFill>
            <a:srgbClr val="0B7A80"/>
          </a:solidFill>
          <a:ln>
            <a:noFill/>
          </a:ln>
          <a:effectLst/>
        </p:spPr>
        <p:txBody>
          <a:bodyPr wrap="square" lIns="0" tIns="0" rIns="0" bIns="0" rtlCol="0" anchor="ctr"/>
          <a:lstStyle/>
          <a:p>
            <a:pPr algn="ctr"/>
            <a:r>
              <a:rPr sz="1500" b="1" i="0">
                <a:solidFill>
                  <a:srgbClr val="FFFFFF"/>
                </a:solidFill>
                <a:latin typeface="Arial"/>
              </a:rPr>
              <a:t>3</a:t>
            </a:r>
          </a:p>
        </p:txBody>
      </p:sp>
      <p:sp>
        <p:nvSpPr>
          <p:cNvPr id="155" name="TextBox 154"/>
          <p:cNvSpPr txBox="1"/>
          <p:nvPr/>
        </p:nvSpPr>
        <p:spPr>
          <a:xfrm>
            <a:off x="10287000" y="7671816"/>
            <a:ext cx="6583680" cy="731520"/>
          </a:xfrm>
          <a:prstGeom prst="rect">
            <a:avLst/>
          </a:prstGeom>
          <a:noFill/>
        </p:spPr>
        <p:txBody>
          <a:bodyPr wrap="square" lIns="0" tIns="0" rIns="0" bIns="0" anchor="t">
            <a:spAutoFit/>
          </a:bodyPr>
          <a:lstStyle/>
          <a:p>
            <a:pPr algn="l"/>
            <a:r>
              <a:rPr sz="1500" b="1" i="0">
                <a:solidFill>
                  <a:srgbClr val="0F2A3D"/>
                </a:solidFill>
                <a:latin typeface="Arial"/>
              </a:rPr>
              <a:t>Analyze </a:t>
            </a:r>
            <a:r>
              <a:rPr sz="1500" b="0" i="0">
                <a:solidFill>
                  <a:srgbClr val="33475B"/>
                </a:solidFill>
                <a:latin typeface="Arial"/>
              </a:rPr>
              <a:t>with a deterministic scanner first, then an advisory LLM.</a:t>
            </a:r>
          </a:p>
        </p:txBody>
      </p:sp>
      <p:sp>
        <p:nvSpPr>
          <p:cNvPr id="156" name="Oval 155"/>
          <p:cNvSpPr/>
          <p:nvPr/>
        </p:nvSpPr>
        <p:spPr>
          <a:xfrm>
            <a:off x="9692640" y="8549640"/>
            <a:ext cx="420624" cy="420624"/>
          </a:xfrm>
          <a:prstGeom prst="ellipse">
            <a:avLst/>
          </a:prstGeom>
          <a:solidFill>
            <a:srgbClr val="0B7A80"/>
          </a:solidFill>
          <a:ln>
            <a:noFill/>
          </a:ln>
          <a:effectLst/>
        </p:spPr>
        <p:txBody>
          <a:bodyPr wrap="square" lIns="0" tIns="0" rIns="0" bIns="0" rtlCol="0" anchor="ctr"/>
          <a:lstStyle/>
          <a:p>
            <a:pPr algn="ctr"/>
            <a:r>
              <a:rPr sz="1500" b="1" i="0">
                <a:solidFill>
                  <a:srgbClr val="FFFFFF"/>
                </a:solidFill>
                <a:latin typeface="Arial"/>
              </a:rPr>
              <a:t>4</a:t>
            </a:r>
          </a:p>
        </p:txBody>
      </p:sp>
      <p:sp>
        <p:nvSpPr>
          <p:cNvPr id="157" name="TextBox 156"/>
          <p:cNvSpPr txBox="1"/>
          <p:nvPr/>
        </p:nvSpPr>
        <p:spPr>
          <a:xfrm>
            <a:off x="10287000" y="8513064"/>
            <a:ext cx="6583680" cy="731520"/>
          </a:xfrm>
          <a:prstGeom prst="rect">
            <a:avLst/>
          </a:prstGeom>
          <a:noFill/>
        </p:spPr>
        <p:txBody>
          <a:bodyPr wrap="square" lIns="0" tIns="0" rIns="0" bIns="0" anchor="t">
            <a:spAutoFit/>
          </a:bodyPr>
          <a:lstStyle/>
          <a:p>
            <a:pPr algn="l"/>
            <a:r>
              <a:rPr sz="1500" b="1" i="0">
                <a:solidFill>
                  <a:srgbClr val="0F2A3D"/>
                </a:solidFill>
                <a:latin typeface="Arial"/>
              </a:rPr>
              <a:t>Bind </a:t>
            </a:r>
            <a:r>
              <a:rPr sz="1500" b="0" i="0">
                <a:solidFill>
                  <a:srgbClr val="33475B"/>
                </a:solidFill>
                <a:latin typeface="Arial"/>
              </a:rPr>
              <a:t>approval to a SHA-256 fingerprint and re-check it before every call.</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3"/>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l="-7180" t="-19076" r="-3000" b="-11427"/>
            </a:stretch>
          </a:blipFill>
          <a:ln>
            <a:noFill/>
          </a:ln>
        </p:spPr>
        <p:txBody>
          <a:bodyPr/>
          <a:lstStyle/>
          <a:p>
            <a:endParaRPr/>
          </a:p>
        </p:txBody>
      </p:sp>
      <p:sp>
        <p:nvSpPr>
          <p:cNvPr id="133" name="Google Shape;133;p3"/>
          <p:cNvSpPr/>
          <p:nvPr/>
        </p:nvSpPr>
        <p:spPr>
          <a:xfrm>
            <a:off x="5317038" y="-4518398"/>
            <a:ext cx="22188662" cy="18920878"/>
          </a:xfrm>
          <a:custGeom>
            <a:avLst/>
            <a:gdLst/>
            <a:ahLst/>
            <a:cxnLst/>
            <a:rect l="l" t="t" r="r" b="b"/>
            <a:pathLst>
              <a:path w="22188662" h="18920878" extrusionOk="0">
                <a:moveTo>
                  <a:pt x="0" y="0"/>
                </a:moveTo>
                <a:lnTo>
                  <a:pt x="22188663" y="0"/>
                </a:lnTo>
                <a:lnTo>
                  <a:pt x="22188663" y="18920878"/>
                </a:lnTo>
                <a:lnTo>
                  <a:pt x="0" y="18920878"/>
                </a:lnTo>
                <a:lnTo>
                  <a:pt x="0" y="0"/>
                </a:lnTo>
                <a:close/>
              </a:path>
            </a:pathLst>
          </a:custGeom>
          <a:blipFill rotWithShape="1">
            <a:blip r:embed="rId4">
              <a:alphaModFix/>
            </a:blip>
            <a:stretch>
              <a:fillRect/>
            </a:stretch>
          </a:blipFill>
          <a:ln>
            <a:noFill/>
          </a:ln>
        </p:spPr>
        <p:txBody>
          <a:bodyPr/>
          <a:lstStyle/>
          <a:p>
            <a:endParaRPr/>
          </a:p>
        </p:txBody>
      </p:sp>
      <p:sp>
        <p:nvSpPr>
          <p:cNvPr id="134" name="Google Shape;134;p3"/>
          <p:cNvSpPr txBox="1"/>
          <p:nvPr/>
        </p:nvSpPr>
        <p:spPr>
          <a:xfrm>
            <a:off x="1028700" y="838200"/>
            <a:ext cx="16276320" cy="1704975"/>
          </a:xfrm>
          <a:prstGeom prst="rect">
            <a:avLst/>
          </a:prstGeom>
          <a:noFill/>
          <a:ln>
            <a:noFill/>
          </a:ln>
        </p:spPr>
        <p:txBody>
          <a:bodyPr spcFirstLastPara="1" wrap="square" lIns="0" tIns="0" rIns="0" bIns="0" anchor="t" anchorCtr="0">
            <a:spAutoFit/>
          </a:bodyPr>
          <a:lstStyle/>
          <a:p>
            <a:pPr marL="0" marR="0" lvl="0" indent="0" algn="l" rtl="0">
              <a:lnSpc>
                <a:spcPct val="119993"/>
              </a:lnSpc>
              <a:spcBef>
                <a:spcPts val="0"/>
              </a:spcBef>
              <a:spcAft>
                <a:spcPts val="0"/>
              </a:spcAft>
              <a:buNone/>
            </a:pPr>
            <a:r>
              <a:rPr lang="en-US" sz="9978" b="0" i="0" u="none" strike="noStrike" cap="none">
                <a:solidFill>
                  <a:srgbClr val="5DE0E6"/>
                </a:solidFill>
                <a:latin typeface="Times"/>
                <a:ea typeface="Times"/>
                <a:cs typeface="Times"/>
                <a:sym typeface="Times"/>
              </a:rPr>
              <a:t>Tech Stack &amp; Architecture</a:t>
            </a:r>
            <a:endParaRPr/>
          </a:p>
        </p:txBody>
      </p:sp>
      <p:sp>
        <p:nvSpPr>
          <p:cNvPr id="135" name="TextBox 134"/>
          <p:cNvSpPr txBox="1"/>
          <p:nvPr/>
        </p:nvSpPr>
        <p:spPr>
          <a:xfrm>
            <a:off x="1028700" y="2697480"/>
            <a:ext cx="6035040" cy="320040"/>
          </a:xfrm>
          <a:prstGeom prst="rect">
            <a:avLst/>
          </a:prstGeom>
          <a:noFill/>
        </p:spPr>
        <p:txBody>
          <a:bodyPr wrap="square" lIns="0" tIns="0" rIns="0" bIns="0" anchor="t">
            <a:spAutoFit/>
          </a:bodyPr>
          <a:lstStyle/>
          <a:p>
            <a:pPr algn="l"/>
            <a:r>
              <a:rPr sz="1500" b="1" i="0">
                <a:solidFill>
                  <a:srgbClr val="0B7A80"/>
                </a:solidFill>
                <a:latin typeface="Arial"/>
              </a:rPr>
              <a:t>STACK</a:t>
            </a:r>
          </a:p>
        </p:txBody>
      </p:sp>
      <p:sp>
        <p:nvSpPr>
          <p:cNvPr id="136" name="Rounded Rectangle 135"/>
          <p:cNvSpPr/>
          <p:nvPr/>
        </p:nvSpPr>
        <p:spPr>
          <a:xfrm>
            <a:off x="1028700" y="3108960"/>
            <a:ext cx="6035040" cy="914400"/>
          </a:xfrm>
          <a:prstGeom prst="roundRect">
            <a:avLst>
              <a:gd name="adj" fmla="val 12000"/>
            </a:avLst>
          </a:prstGeom>
          <a:solidFill>
            <a:srgbClr val="FFFFFF"/>
          </a:solidFill>
          <a:ln w="12700">
            <a:solidFill>
              <a:srgbClr val="C9DAE3"/>
            </a:solidFill>
          </a:ln>
          <a:effectLst/>
        </p:spPr>
        <p:txBody>
          <a:bodyPr wrap="square" lIns="182880" tIns="109728" rIns="182880" bIns="109728" rtlCol="0" anchor="ctr"/>
          <a:lstStyle/>
          <a:p>
            <a:pPr algn="l"/>
            <a:r>
              <a:rPr sz="1300" b="1" i="0">
                <a:solidFill>
                  <a:srgbClr val="0B7A80"/>
                </a:solidFill>
                <a:latin typeface="Arial"/>
              </a:rPr>
              <a:t>Security core</a:t>
            </a:r>
          </a:p>
          <a:p>
            <a:pPr algn="l"/>
            <a:r>
              <a:rPr sz="1400" b="0" i="0">
                <a:solidFill>
                  <a:srgbClr val="0F2A3D"/>
                </a:solidFill>
                <a:latin typeface="Arial"/>
              </a:rPr>
              <a:t>Python 3.11 · FastAPI · Pydantic v2 · hashlib SHA-256</a:t>
            </a:r>
          </a:p>
        </p:txBody>
      </p:sp>
      <p:sp>
        <p:nvSpPr>
          <p:cNvPr id="137" name="Rounded Rectangle 136"/>
          <p:cNvSpPr/>
          <p:nvPr/>
        </p:nvSpPr>
        <p:spPr>
          <a:xfrm>
            <a:off x="1028700" y="4178808"/>
            <a:ext cx="6035040" cy="914400"/>
          </a:xfrm>
          <a:prstGeom prst="roundRect">
            <a:avLst>
              <a:gd name="adj" fmla="val 12000"/>
            </a:avLst>
          </a:prstGeom>
          <a:solidFill>
            <a:srgbClr val="FFFFFF"/>
          </a:solidFill>
          <a:ln w="12700">
            <a:solidFill>
              <a:srgbClr val="C9DAE3"/>
            </a:solidFill>
          </a:ln>
          <a:effectLst/>
        </p:spPr>
        <p:txBody>
          <a:bodyPr wrap="square" lIns="182880" tIns="109728" rIns="182880" bIns="109728" rtlCol="0" anchor="ctr"/>
          <a:lstStyle/>
          <a:p>
            <a:pPr algn="l"/>
            <a:r>
              <a:rPr sz="1300" b="1" i="0">
                <a:solidFill>
                  <a:srgbClr val="0B7A80"/>
                </a:solidFill>
                <a:latin typeface="Arial"/>
              </a:rPr>
              <a:t>MCP</a:t>
            </a:r>
          </a:p>
          <a:p>
            <a:pPr algn="l"/>
            <a:r>
              <a:rPr sz="1400" b="0" i="0">
                <a:solidFill>
                  <a:srgbClr val="0F2A3D"/>
                </a:solidFill>
                <a:latin typeface="Arial"/>
              </a:rPr>
              <a:t>Official MCP Python SDK over Streamable HTTP (minimal JSON-RPC fallback)</a:t>
            </a:r>
          </a:p>
        </p:txBody>
      </p:sp>
      <p:sp>
        <p:nvSpPr>
          <p:cNvPr id="138" name="Rounded Rectangle 137"/>
          <p:cNvSpPr/>
          <p:nvPr/>
        </p:nvSpPr>
        <p:spPr>
          <a:xfrm>
            <a:off x="1028700" y="5248656"/>
            <a:ext cx="6035040" cy="914400"/>
          </a:xfrm>
          <a:prstGeom prst="roundRect">
            <a:avLst>
              <a:gd name="adj" fmla="val 12000"/>
            </a:avLst>
          </a:prstGeom>
          <a:solidFill>
            <a:srgbClr val="FFFFFF"/>
          </a:solidFill>
          <a:ln w="12700">
            <a:solidFill>
              <a:srgbClr val="C9DAE3"/>
            </a:solidFill>
          </a:ln>
          <a:effectLst/>
        </p:spPr>
        <p:txBody>
          <a:bodyPr wrap="square" lIns="182880" tIns="109728" rIns="182880" bIns="109728" rtlCol="0" anchor="ctr"/>
          <a:lstStyle/>
          <a:p>
            <a:pPr algn="l"/>
            <a:r>
              <a:rPr sz="1300" b="1" i="0">
                <a:solidFill>
                  <a:srgbClr val="0B7A80"/>
                </a:solidFill>
                <a:latin typeface="Arial"/>
              </a:rPr>
              <a:t>AI analysis</a:t>
            </a:r>
          </a:p>
          <a:p>
            <a:pPr algn="l"/>
            <a:r>
              <a:rPr sz="1400" b="0" i="0">
                <a:solidFill>
                  <a:srgbClr val="0F2A3D"/>
                </a:solidFill>
                <a:latin typeface="Arial"/>
              </a:rPr>
              <a:t>Provider-agnostic LLM adapter with structured outputs · ReplayAnalyzer for offline demos</a:t>
            </a:r>
          </a:p>
        </p:txBody>
      </p:sp>
      <p:sp>
        <p:nvSpPr>
          <p:cNvPr id="139" name="Rounded Rectangle 138"/>
          <p:cNvSpPr/>
          <p:nvPr/>
        </p:nvSpPr>
        <p:spPr>
          <a:xfrm>
            <a:off x="1028700" y="6318504"/>
            <a:ext cx="6035040" cy="914400"/>
          </a:xfrm>
          <a:prstGeom prst="roundRect">
            <a:avLst>
              <a:gd name="adj" fmla="val 12000"/>
            </a:avLst>
          </a:prstGeom>
          <a:solidFill>
            <a:srgbClr val="FFFFFF"/>
          </a:solidFill>
          <a:ln w="12700">
            <a:solidFill>
              <a:srgbClr val="C9DAE3"/>
            </a:solidFill>
          </a:ln>
          <a:effectLst/>
        </p:spPr>
        <p:txBody>
          <a:bodyPr wrap="square" lIns="182880" tIns="109728" rIns="182880" bIns="109728" rtlCol="0" anchor="ctr"/>
          <a:lstStyle/>
          <a:p>
            <a:pPr algn="l"/>
            <a:r>
              <a:rPr sz="1300" b="1" i="0">
                <a:solidFill>
                  <a:srgbClr val="0B7A80"/>
                </a:solidFill>
                <a:latin typeface="Arial"/>
              </a:rPr>
              <a:t>Storage</a:t>
            </a:r>
          </a:p>
          <a:p>
            <a:pPr algn="l"/>
            <a:r>
              <a:rPr sz="1400" b="0" i="0">
                <a:solidFill>
                  <a:srgbClr val="0F2A3D"/>
                </a:solidFill>
                <a:latin typeface="Arial"/>
              </a:rPr>
              <a:t>SQLite behind a small interface (Postgres-ready) · SQLModel</a:t>
            </a:r>
          </a:p>
        </p:txBody>
      </p:sp>
      <p:sp>
        <p:nvSpPr>
          <p:cNvPr id="140" name="Rounded Rectangle 139"/>
          <p:cNvSpPr/>
          <p:nvPr/>
        </p:nvSpPr>
        <p:spPr>
          <a:xfrm>
            <a:off x="1028700" y="7388352"/>
            <a:ext cx="6035040" cy="914400"/>
          </a:xfrm>
          <a:prstGeom prst="roundRect">
            <a:avLst>
              <a:gd name="adj" fmla="val 12000"/>
            </a:avLst>
          </a:prstGeom>
          <a:solidFill>
            <a:srgbClr val="FFFFFF"/>
          </a:solidFill>
          <a:ln w="12700">
            <a:solidFill>
              <a:srgbClr val="C9DAE3"/>
            </a:solidFill>
          </a:ln>
          <a:effectLst/>
        </p:spPr>
        <p:txBody>
          <a:bodyPr wrap="square" lIns="182880" tIns="109728" rIns="182880" bIns="109728" rtlCol="0" anchor="ctr"/>
          <a:lstStyle/>
          <a:p>
            <a:pPr algn="l"/>
            <a:r>
              <a:rPr sz="1300" b="1" i="0">
                <a:solidFill>
                  <a:srgbClr val="0B7A80"/>
                </a:solidFill>
                <a:latin typeface="Arial"/>
              </a:rPr>
              <a:t>Frontend</a:t>
            </a:r>
          </a:p>
          <a:p>
            <a:pPr algn="l"/>
            <a:r>
              <a:rPr sz="1400" b="0" i="0">
                <a:solidFill>
                  <a:srgbClr val="0F2A3D"/>
                </a:solidFill>
                <a:latin typeface="Arial"/>
              </a:rPr>
              <a:t>React + TypeScript + Vite · Tailwind · Lucide icons</a:t>
            </a:r>
          </a:p>
        </p:txBody>
      </p:sp>
      <p:sp>
        <p:nvSpPr>
          <p:cNvPr id="141" name="Rounded Rectangle 140"/>
          <p:cNvSpPr/>
          <p:nvPr/>
        </p:nvSpPr>
        <p:spPr>
          <a:xfrm>
            <a:off x="1028700" y="8458200"/>
            <a:ext cx="6035040" cy="914400"/>
          </a:xfrm>
          <a:prstGeom prst="roundRect">
            <a:avLst>
              <a:gd name="adj" fmla="val 12000"/>
            </a:avLst>
          </a:prstGeom>
          <a:solidFill>
            <a:srgbClr val="FFFFFF"/>
          </a:solidFill>
          <a:ln w="12700">
            <a:solidFill>
              <a:srgbClr val="C9DAE3"/>
            </a:solidFill>
          </a:ln>
          <a:effectLst/>
        </p:spPr>
        <p:txBody>
          <a:bodyPr wrap="square" lIns="182880" tIns="109728" rIns="182880" bIns="109728" rtlCol="0" anchor="ctr"/>
          <a:lstStyle/>
          <a:p>
            <a:pPr algn="l"/>
            <a:r>
              <a:rPr sz="1300" b="1" i="0">
                <a:solidFill>
                  <a:srgbClr val="0B7A80"/>
                </a:solidFill>
                <a:latin typeface="Arial"/>
              </a:rPr>
              <a:t>Testing</a:t>
            </a:r>
          </a:p>
          <a:p>
            <a:pPr algn="l"/>
            <a:r>
              <a:rPr sz="1400" b="0" i="0">
                <a:solidFill>
                  <a:srgbClr val="0F2A3D"/>
                </a:solidFill>
                <a:latin typeface="Arial"/>
              </a:rPr>
              <a:t>pytest · React Testing Library · Playwright golden path</a:t>
            </a:r>
          </a:p>
        </p:txBody>
      </p:sp>
      <p:sp>
        <p:nvSpPr>
          <p:cNvPr id="142" name="TextBox 141"/>
          <p:cNvSpPr txBox="1"/>
          <p:nvPr/>
        </p:nvSpPr>
        <p:spPr>
          <a:xfrm>
            <a:off x="7680960" y="2697480"/>
            <a:ext cx="9601200" cy="320040"/>
          </a:xfrm>
          <a:prstGeom prst="rect">
            <a:avLst/>
          </a:prstGeom>
          <a:noFill/>
        </p:spPr>
        <p:txBody>
          <a:bodyPr wrap="square" lIns="0" tIns="0" rIns="0" bIns="0" anchor="t">
            <a:spAutoFit/>
          </a:bodyPr>
          <a:lstStyle/>
          <a:p>
            <a:pPr algn="l"/>
            <a:r>
              <a:rPr sz="1500" b="1" i="0">
                <a:solidFill>
                  <a:srgbClr val="0B7A80"/>
                </a:solidFill>
                <a:latin typeface="Arial"/>
              </a:rPr>
              <a:t>ARCHITECTURE</a:t>
            </a:r>
          </a:p>
        </p:txBody>
      </p:sp>
      <p:sp>
        <p:nvSpPr>
          <p:cNvPr id="143" name="Rounded Rectangle 142"/>
          <p:cNvSpPr/>
          <p:nvPr/>
        </p:nvSpPr>
        <p:spPr>
          <a:xfrm>
            <a:off x="7955279" y="3108960"/>
            <a:ext cx="5989320" cy="731520"/>
          </a:xfrm>
          <a:prstGeom prst="roundRect">
            <a:avLst>
              <a:gd name="adj" fmla="val 8000"/>
            </a:avLst>
          </a:prstGeom>
          <a:solidFill>
            <a:srgbClr val="FDECEC"/>
          </a:solidFill>
          <a:ln w="15875">
            <a:solidFill>
              <a:srgbClr val="C62828"/>
            </a:solidFill>
          </a:ln>
          <a:effectLst/>
        </p:spPr>
        <p:txBody>
          <a:bodyPr wrap="square" lIns="109728" tIns="65836" rIns="109728" bIns="65836" rtlCol="0" anchor="ctr"/>
          <a:lstStyle/>
          <a:p>
            <a:pPr algn="ctr"/>
            <a:r>
              <a:rPr sz="1400" b="1" i="0">
                <a:solidFill>
                  <a:srgbClr val="C62828"/>
                </a:solidFill>
                <a:latin typeface="Arial"/>
              </a:rPr>
              <a:t>MCP servers (untrusted)</a:t>
            </a:r>
          </a:p>
          <a:p>
            <a:pPr algn="ctr"/>
            <a:r>
              <a:rPr sz="1200" b="0" i="0">
                <a:solidFill>
                  <a:srgbClr val="33475B"/>
                </a:solidFill>
                <a:latin typeface="Arial"/>
              </a:rPr>
              <a:t>benign · poisoned · invisible-text · rug-pull · shadow</a:t>
            </a:r>
          </a:p>
        </p:txBody>
      </p:sp>
      <p:sp>
        <p:nvSpPr>
          <p:cNvPr id="144" name="Rounded Rectangle 143"/>
          <p:cNvSpPr/>
          <p:nvPr/>
        </p:nvSpPr>
        <p:spPr>
          <a:xfrm>
            <a:off x="14264640" y="3108960"/>
            <a:ext cx="2743200" cy="731520"/>
          </a:xfrm>
          <a:prstGeom prst="roundRect">
            <a:avLst>
              <a:gd name="adj" fmla="val 15000"/>
            </a:avLst>
          </a:prstGeom>
          <a:solidFill>
            <a:srgbClr val="FFFFFF"/>
          </a:solidFill>
          <a:ln>
            <a:noFill/>
          </a:ln>
          <a:effectLst/>
        </p:spPr>
        <p:txBody>
          <a:bodyPr wrap="square" lIns="109728" tIns="65836" rIns="109728" bIns="65836" rtlCol="0" anchor="ctr"/>
          <a:lstStyle/>
          <a:p>
            <a:pPr algn="ctr"/>
            <a:r>
              <a:rPr sz="1250" b="0" i="1">
                <a:solidFill>
                  <a:srgbClr val="0F2A3D"/>
                </a:solidFill>
                <a:latin typeface="Arial"/>
              </a:rPr>
              <a:t>The LLM advises. The manifest + policy engine decide.</a:t>
            </a:r>
          </a:p>
        </p:txBody>
      </p:sp>
      <p:sp>
        <p:nvSpPr>
          <p:cNvPr id="145" name="Rounded Rectangle 144"/>
          <p:cNvSpPr/>
          <p:nvPr/>
        </p:nvSpPr>
        <p:spPr>
          <a:xfrm>
            <a:off x="7680960" y="4160520"/>
            <a:ext cx="9601200" cy="5532120"/>
          </a:xfrm>
          <a:prstGeom prst="roundRect">
            <a:avLst>
              <a:gd name="adj" fmla="val 3000"/>
            </a:avLst>
          </a:prstGeom>
          <a:noFill/>
          <a:ln w="19050">
            <a:solidFill>
              <a:srgbClr val="0B7A80"/>
            </a:solidFill>
            <a:prstDash val="dash"/>
          </a:ln>
          <a:effectLst/>
        </p:spPr>
        <p:txBody>
          <a:bodyPr wrap="square" lIns="109728" tIns="65836" rIns="109728" bIns="65836" rtlCol="0" anchor="ctr"/>
          <a:lstStyle/>
          <a:p>
            <a:pPr algn="ctr"/>
            <a:endParaRPr/>
          </a:p>
        </p:txBody>
      </p:sp>
      <p:sp>
        <p:nvSpPr>
          <p:cNvPr id="146" name="TextBox 145"/>
          <p:cNvSpPr txBox="1"/>
          <p:nvPr/>
        </p:nvSpPr>
        <p:spPr>
          <a:xfrm>
            <a:off x="13350240" y="4224528"/>
            <a:ext cx="3794760" cy="274320"/>
          </a:xfrm>
          <a:prstGeom prst="rect">
            <a:avLst/>
          </a:prstGeom>
          <a:noFill/>
        </p:spPr>
        <p:txBody>
          <a:bodyPr wrap="square" lIns="0" tIns="0" rIns="0" bIns="0" anchor="t">
            <a:spAutoFit/>
          </a:bodyPr>
          <a:lstStyle/>
          <a:p>
            <a:pPr algn="r"/>
            <a:r>
              <a:rPr sz="1100" b="1" i="0">
                <a:solidFill>
                  <a:srgbClr val="0B7A80"/>
                </a:solidFill>
                <a:latin typeface="Arial"/>
              </a:rPr>
              <a:t>FILIGREE SECURITY BOUNDARY</a:t>
            </a:r>
          </a:p>
        </p:txBody>
      </p:sp>
      <p:sp>
        <p:nvSpPr>
          <p:cNvPr id="147" name="Rounded Rectangle 146"/>
          <p:cNvSpPr/>
          <p:nvPr/>
        </p:nvSpPr>
        <p:spPr>
          <a:xfrm>
            <a:off x="7955279" y="4572000"/>
            <a:ext cx="2834640" cy="914400"/>
          </a:xfrm>
          <a:prstGeom prst="roundRect">
            <a:avLst>
              <a:gd name="adj" fmla="val 10000"/>
            </a:avLst>
          </a:prstGeom>
          <a:solidFill>
            <a:srgbClr val="FFFFFF"/>
          </a:solidFill>
          <a:ln w="15875">
            <a:solidFill>
              <a:srgbClr val="C9DAE3"/>
            </a:solidFill>
          </a:ln>
          <a:effectLst/>
        </p:spPr>
        <p:txBody>
          <a:bodyPr wrap="square" lIns="73152" tIns="43891" rIns="73152" bIns="43891" rtlCol="0" anchor="ctr"/>
          <a:lstStyle/>
          <a:p>
            <a:pPr algn="ctr"/>
            <a:r>
              <a:rPr sz="1400" b="1" i="0">
                <a:solidFill>
                  <a:srgbClr val="0F2A3D"/>
                </a:solidFill>
                <a:latin typeface="Arial"/>
              </a:rPr>
              <a:t>Capture client</a:t>
            </a:r>
          </a:p>
          <a:p>
            <a:pPr algn="ctr"/>
            <a:r>
              <a:rPr sz="1150" b="0" i="0">
                <a:solidFill>
                  <a:srgbClr val="5B6F82"/>
                </a:solidFill>
                <a:latin typeface="Arial"/>
              </a:rPr>
              <a:t>reference MCP client</a:t>
            </a:r>
          </a:p>
        </p:txBody>
      </p:sp>
      <p:sp>
        <p:nvSpPr>
          <p:cNvPr id="148" name="Rounded Rectangle 147"/>
          <p:cNvSpPr/>
          <p:nvPr/>
        </p:nvSpPr>
        <p:spPr>
          <a:xfrm>
            <a:off x="11109960" y="4572000"/>
            <a:ext cx="5897880" cy="914400"/>
          </a:xfrm>
          <a:prstGeom prst="roundRect">
            <a:avLst>
              <a:gd name="adj" fmla="val 10000"/>
            </a:avLst>
          </a:prstGeom>
          <a:solidFill>
            <a:srgbClr val="EAF6F8"/>
          </a:solidFill>
          <a:ln w="15875">
            <a:solidFill>
              <a:srgbClr val="0B7A80"/>
            </a:solidFill>
          </a:ln>
          <a:effectLst/>
        </p:spPr>
        <p:txBody>
          <a:bodyPr wrap="square" lIns="73152" tIns="43891" rIns="73152" bIns="43891" rtlCol="0" anchor="ctr"/>
          <a:lstStyle/>
          <a:p>
            <a:pPr algn="ctr"/>
            <a:r>
              <a:rPr sz="1400" b="1" i="0">
                <a:solidFill>
                  <a:srgbClr val="0F2A3D"/>
                </a:solidFill>
                <a:latin typeface="Arial"/>
              </a:rPr>
              <a:t>Canonical tool object</a:t>
            </a:r>
          </a:p>
          <a:p>
            <a:pPr algn="ctr"/>
            <a:r>
              <a:rPr sz="1150" b="0" i="0">
                <a:solidFill>
                  <a:srgbClr val="5B6F82"/>
                </a:solidFill>
                <a:latin typeface="Arial"/>
              </a:rPr>
              <a:t>exactly what the agent's tool registry receives</a:t>
            </a:r>
          </a:p>
        </p:txBody>
      </p:sp>
      <p:sp>
        <p:nvSpPr>
          <p:cNvPr id="149" name="Rounded Rectangle 148"/>
          <p:cNvSpPr/>
          <p:nvPr/>
        </p:nvSpPr>
        <p:spPr>
          <a:xfrm>
            <a:off x="7955279" y="5897880"/>
            <a:ext cx="2834640" cy="914400"/>
          </a:xfrm>
          <a:prstGeom prst="roundRect">
            <a:avLst>
              <a:gd name="adj" fmla="val 10000"/>
            </a:avLst>
          </a:prstGeom>
          <a:solidFill>
            <a:srgbClr val="FFFFFF"/>
          </a:solidFill>
          <a:ln w="15875">
            <a:solidFill>
              <a:srgbClr val="C9DAE3"/>
            </a:solidFill>
          </a:ln>
          <a:effectLst/>
        </p:spPr>
        <p:txBody>
          <a:bodyPr wrap="square" lIns="73152" tIns="43891" rIns="73152" bIns="43891" rtlCol="0" anchor="ctr"/>
          <a:lstStyle/>
          <a:p>
            <a:pPr algn="ctr"/>
            <a:r>
              <a:rPr sz="1400" b="1" i="0">
                <a:solidFill>
                  <a:srgbClr val="0F2A3D"/>
                </a:solidFill>
                <a:latin typeface="Arial"/>
              </a:rPr>
              <a:t>LLM analyzer</a:t>
            </a:r>
          </a:p>
          <a:p>
            <a:pPr algn="ctr"/>
            <a:r>
              <a:rPr sz="1150" b="0" i="0">
                <a:solidFill>
                  <a:srgbClr val="5B6F82"/>
                </a:solidFill>
                <a:latin typeface="Arial"/>
              </a:rPr>
              <a:t>advisory · data-only prompt</a:t>
            </a:r>
          </a:p>
        </p:txBody>
      </p:sp>
      <p:sp>
        <p:nvSpPr>
          <p:cNvPr id="150" name="Rounded Rectangle 149"/>
          <p:cNvSpPr/>
          <p:nvPr/>
        </p:nvSpPr>
        <p:spPr>
          <a:xfrm>
            <a:off x="11109960" y="5897880"/>
            <a:ext cx="2834640" cy="914400"/>
          </a:xfrm>
          <a:prstGeom prst="roundRect">
            <a:avLst>
              <a:gd name="adj" fmla="val 10000"/>
            </a:avLst>
          </a:prstGeom>
          <a:solidFill>
            <a:srgbClr val="FFFFFF"/>
          </a:solidFill>
          <a:ln w="15875">
            <a:solidFill>
              <a:srgbClr val="C9DAE3"/>
            </a:solidFill>
          </a:ln>
          <a:effectLst/>
        </p:spPr>
        <p:txBody>
          <a:bodyPr wrap="square" lIns="73152" tIns="43891" rIns="73152" bIns="43891" rtlCol="0" anchor="ctr"/>
          <a:lstStyle/>
          <a:p>
            <a:pPr algn="ctr"/>
            <a:r>
              <a:rPr sz="1400" b="1" i="0">
                <a:solidFill>
                  <a:srgbClr val="0F2A3D"/>
                </a:solidFill>
                <a:latin typeface="Arial"/>
              </a:rPr>
              <a:t>Deterministic scanner</a:t>
            </a:r>
          </a:p>
          <a:p>
            <a:pPr algn="ctr"/>
            <a:r>
              <a:rPr sz="1150" b="0" i="0">
                <a:solidFill>
                  <a:srgbClr val="5B6F82"/>
                </a:solidFill>
                <a:latin typeface="Arial"/>
              </a:rPr>
              <a:t>rules · cannot be downgraded</a:t>
            </a:r>
          </a:p>
        </p:txBody>
      </p:sp>
      <p:sp>
        <p:nvSpPr>
          <p:cNvPr id="151" name="Rounded Rectangle 150"/>
          <p:cNvSpPr/>
          <p:nvPr/>
        </p:nvSpPr>
        <p:spPr>
          <a:xfrm>
            <a:off x="14264640" y="5897880"/>
            <a:ext cx="2743200" cy="914400"/>
          </a:xfrm>
          <a:prstGeom prst="roundRect">
            <a:avLst>
              <a:gd name="adj" fmla="val 10000"/>
            </a:avLst>
          </a:prstGeom>
          <a:solidFill>
            <a:srgbClr val="FFFFFF"/>
          </a:solidFill>
          <a:ln w="15875">
            <a:solidFill>
              <a:srgbClr val="C9DAE3"/>
            </a:solidFill>
          </a:ln>
          <a:effectLst/>
        </p:spPr>
        <p:txBody>
          <a:bodyPr wrap="square" lIns="73152" tIns="43891" rIns="73152" bIns="43891" rtlCol="0" anchor="ctr"/>
          <a:lstStyle/>
          <a:p>
            <a:pPr algn="ctr"/>
            <a:r>
              <a:rPr sz="1400" b="1" i="0">
                <a:solidFill>
                  <a:srgbClr val="0F2A3D"/>
                </a:solidFill>
                <a:latin typeface="Arial"/>
              </a:rPr>
              <a:t>SHA-256 fingerprint</a:t>
            </a:r>
          </a:p>
          <a:p>
            <a:pPr algn="ctr"/>
            <a:r>
              <a:rPr sz="1150" b="0" i="0">
                <a:solidFill>
                  <a:srgbClr val="5B6F82"/>
                </a:solidFill>
                <a:latin typeface="Arial"/>
              </a:rPr>
              <a:t>server ID + name + definition</a:t>
            </a:r>
          </a:p>
        </p:txBody>
      </p:sp>
      <p:sp>
        <p:nvSpPr>
          <p:cNvPr id="152" name="Rounded Rectangle 151"/>
          <p:cNvSpPr/>
          <p:nvPr/>
        </p:nvSpPr>
        <p:spPr>
          <a:xfrm>
            <a:off x="7955279" y="7223760"/>
            <a:ext cx="5989320" cy="914400"/>
          </a:xfrm>
          <a:prstGeom prst="roundRect">
            <a:avLst>
              <a:gd name="adj" fmla="val 10000"/>
            </a:avLst>
          </a:prstGeom>
          <a:solidFill>
            <a:srgbClr val="EAF6F8"/>
          </a:solidFill>
          <a:ln w="15875">
            <a:solidFill>
              <a:srgbClr val="0B7A80"/>
            </a:solidFill>
          </a:ln>
          <a:effectLst/>
        </p:spPr>
        <p:txBody>
          <a:bodyPr wrap="square" lIns="73152" tIns="43891" rIns="73152" bIns="43891" rtlCol="0" anchor="ctr"/>
          <a:lstStyle/>
          <a:p>
            <a:pPr algn="ctr"/>
            <a:r>
              <a:rPr sz="1400" b="1" i="0">
                <a:solidFill>
                  <a:srgbClr val="0F2A3D"/>
                </a:solidFill>
                <a:latin typeface="Arial"/>
              </a:rPr>
              <a:t>Policy &amp; approval engine</a:t>
            </a:r>
          </a:p>
          <a:p>
            <a:pPr algn="ctr"/>
            <a:r>
              <a:rPr sz="1150" b="0" i="0">
                <a:solidFill>
                  <a:srgbClr val="5B6F82"/>
                </a:solidFill>
                <a:latin typeface="Arial"/>
              </a:rPr>
              <a:t>allow · review · block, with reason codes</a:t>
            </a:r>
          </a:p>
        </p:txBody>
      </p:sp>
      <p:sp>
        <p:nvSpPr>
          <p:cNvPr id="153" name="Rounded Rectangle 152"/>
          <p:cNvSpPr/>
          <p:nvPr/>
        </p:nvSpPr>
        <p:spPr>
          <a:xfrm>
            <a:off x="14264640" y="7223760"/>
            <a:ext cx="2743200" cy="914400"/>
          </a:xfrm>
          <a:prstGeom prst="roundRect">
            <a:avLst>
              <a:gd name="adj" fmla="val 10000"/>
            </a:avLst>
          </a:prstGeom>
          <a:solidFill>
            <a:srgbClr val="FFFFFF"/>
          </a:solidFill>
          <a:ln w="15875">
            <a:solidFill>
              <a:srgbClr val="C9DAE3"/>
            </a:solidFill>
          </a:ln>
          <a:effectLst/>
        </p:spPr>
        <p:txBody>
          <a:bodyPr wrap="square" lIns="73152" tIns="43891" rIns="73152" bIns="43891" rtlCol="0" anchor="ctr"/>
          <a:lstStyle/>
          <a:p>
            <a:pPr algn="ctr"/>
            <a:r>
              <a:rPr sz="1400" b="1" i="0">
                <a:solidFill>
                  <a:srgbClr val="0F2A3D"/>
                </a:solidFill>
                <a:latin typeface="Arial"/>
              </a:rPr>
              <a:t>SQLite</a:t>
            </a:r>
          </a:p>
          <a:p>
            <a:pPr algn="ctr"/>
            <a:r>
              <a:rPr sz="1150" b="0" i="0">
                <a:solidFill>
                  <a:srgbClr val="5B6F82"/>
                </a:solidFill>
                <a:latin typeface="Arial"/>
              </a:rPr>
              <a:t>manifests · approvals · audit chain</a:t>
            </a:r>
          </a:p>
        </p:txBody>
      </p:sp>
      <p:sp>
        <p:nvSpPr>
          <p:cNvPr id="154" name="Rounded Rectangle 153"/>
          <p:cNvSpPr/>
          <p:nvPr/>
        </p:nvSpPr>
        <p:spPr>
          <a:xfrm>
            <a:off x="7955279" y="8549640"/>
            <a:ext cx="2834640" cy="914400"/>
          </a:xfrm>
          <a:prstGeom prst="roundRect">
            <a:avLst>
              <a:gd name="adj" fmla="val 10000"/>
            </a:avLst>
          </a:prstGeom>
          <a:solidFill>
            <a:srgbClr val="FFFFFF"/>
          </a:solidFill>
          <a:ln w="15875">
            <a:solidFill>
              <a:srgbClr val="C9DAE3"/>
            </a:solidFill>
          </a:ln>
          <a:effectLst/>
        </p:spPr>
        <p:txBody>
          <a:bodyPr wrap="square" lIns="73152" tIns="43891" rIns="73152" bIns="43891" rtlCol="0" anchor="ctr"/>
          <a:lstStyle/>
          <a:p>
            <a:pPr algn="ctr"/>
            <a:r>
              <a:rPr sz="1400" b="1" i="0">
                <a:solidFill>
                  <a:srgbClr val="0F2A3D"/>
                </a:solidFill>
                <a:latin typeface="Arial"/>
              </a:rPr>
              <a:t>React UI</a:t>
            </a:r>
          </a:p>
          <a:p>
            <a:pPr algn="ctr"/>
            <a:r>
              <a:rPr sz="1150" b="0" i="0">
                <a:solidFill>
                  <a:srgbClr val="5B6F82"/>
                </a:solidFill>
                <a:latin typeface="Arial"/>
              </a:rPr>
              <a:t>human vs model view · diff</a:t>
            </a:r>
          </a:p>
        </p:txBody>
      </p:sp>
      <p:sp>
        <p:nvSpPr>
          <p:cNvPr id="155" name="Rounded Rectangle 154"/>
          <p:cNvSpPr/>
          <p:nvPr/>
        </p:nvSpPr>
        <p:spPr>
          <a:xfrm>
            <a:off x="11109960" y="8549640"/>
            <a:ext cx="2834640" cy="914400"/>
          </a:xfrm>
          <a:prstGeom prst="roundRect">
            <a:avLst>
              <a:gd name="adj" fmla="val 10000"/>
            </a:avLst>
          </a:prstGeom>
          <a:solidFill>
            <a:srgbClr val="FDECEC"/>
          </a:solidFill>
          <a:ln w="15875">
            <a:solidFill>
              <a:srgbClr val="C62828"/>
            </a:solidFill>
          </a:ln>
          <a:effectLst/>
        </p:spPr>
        <p:txBody>
          <a:bodyPr wrap="square" lIns="73152" tIns="43891" rIns="73152" bIns="43891" rtlCol="0" anchor="ctr"/>
          <a:lstStyle/>
          <a:p>
            <a:pPr algn="ctr"/>
            <a:r>
              <a:rPr sz="1400" b="1" i="0">
                <a:solidFill>
                  <a:srgbClr val="C62828"/>
                </a:solidFill>
                <a:latin typeface="Arial"/>
              </a:rPr>
              <a:t>Execution gate</a:t>
            </a:r>
          </a:p>
          <a:p>
            <a:pPr algn="ctr"/>
            <a:r>
              <a:rPr sz="1150" b="0" i="0">
                <a:solidFill>
                  <a:srgbClr val="5B6F82"/>
                </a:solidFill>
                <a:latin typeface="Arial"/>
              </a:rPr>
              <a:t>re-fetch + re-hash every call</a:t>
            </a:r>
          </a:p>
        </p:txBody>
      </p:sp>
      <p:sp>
        <p:nvSpPr>
          <p:cNvPr id="156" name="Rounded Rectangle 155"/>
          <p:cNvSpPr/>
          <p:nvPr/>
        </p:nvSpPr>
        <p:spPr>
          <a:xfrm>
            <a:off x="14264640" y="8549640"/>
            <a:ext cx="2743200" cy="914400"/>
          </a:xfrm>
          <a:prstGeom prst="roundRect">
            <a:avLst>
              <a:gd name="adj" fmla="val 10000"/>
            </a:avLst>
          </a:prstGeom>
          <a:solidFill>
            <a:srgbClr val="FFFFFF"/>
          </a:solidFill>
          <a:ln w="15875">
            <a:solidFill>
              <a:srgbClr val="C9DAE3"/>
            </a:solidFill>
          </a:ln>
          <a:effectLst/>
        </p:spPr>
        <p:txBody>
          <a:bodyPr wrap="square" lIns="73152" tIns="43891" rIns="73152" bIns="43891" rtlCol="0" anchor="ctr"/>
          <a:lstStyle/>
          <a:p>
            <a:pPr algn="ctr"/>
            <a:r>
              <a:rPr sz="1400" b="1" i="0">
                <a:solidFill>
                  <a:srgbClr val="0F2A3D"/>
                </a:solidFill>
                <a:latin typeface="Arial"/>
              </a:rPr>
              <a:t>Reference agent</a:t>
            </a:r>
          </a:p>
          <a:p>
            <a:pPr algn="ctr"/>
            <a:r>
              <a:rPr sz="1150" b="0" i="0">
                <a:solidFill>
                  <a:srgbClr val="5B6F82"/>
                </a:solidFill>
                <a:latin typeface="Arial"/>
              </a:rPr>
              <a:t>only path to tools/call</a:t>
            </a:r>
          </a:p>
        </p:txBody>
      </p:sp>
      <p:cxnSp>
        <p:nvCxnSpPr>
          <p:cNvPr id="157" name="Connector 156"/>
          <p:cNvCxnSpPr/>
          <p:nvPr/>
        </p:nvCxnSpPr>
        <p:spPr>
          <a:xfrm>
            <a:off x="9372600" y="3840480"/>
            <a:ext cx="0" cy="731520"/>
          </a:xfrm>
          <a:prstGeom prst="line">
            <a:avLst/>
          </a:prstGeom>
          <a:ln w="25400">
            <a:solidFill>
              <a:srgbClr val="0B7A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8" name="TextBox 157"/>
          <p:cNvSpPr txBox="1"/>
          <p:nvPr/>
        </p:nvSpPr>
        <p:spPr>
          <a:xfrm>
            <a:off x="9464040" y="3886200"/>
            <a:ext cx="2743200" cy="274320"/>
          </a:xfrm>
          <a:prstGeom prst="rect">
            <a:avLst/>
          </a:prstGeom>
          <a:noFill/>
        </p:spPr>
        <p:txBody>
          <a:bodyPr wrap="square" lIns="0" tIns="0" rIns="0" bIns="0" anchor="t">
            <a:spAutoFit/>
          </a:bodyPr>
          <a:lstStyle/>
          <a:p>
            <a:pPr algn="l"/>
            <a:r>
              <a:rPr sz="1100" b="0" i="0">
                <a:solidFill>
                  <a:srgbClr val="5B6F82"/>
                </a:solidFill>
                <a:latin typeface="Courier New"/>
              </a:rPr>
              <a:t>tools/list · tools/call</a:t>
            </a:r>
          </a:p>
        </p:txBody>
      </p:sp>
      <p:cxnSp>
        <p:nvCxnSpPr>
          <p:cNvPr id="159" name="Connector 158"/>
          <p:cNvCxnSpPr/>
          <p:nvPr/>
        </p:nvCxnSpPr>
        <p:spPr>
          <a:xfrm>
            <a:off x="10789919" y="5029200"/>
            <a:ext cx="320041" cy="0"/>
          </a:xfrm>
          <a:prstGeom prst="line">
            <a:avLst/>
          </a:prstGeom>
          <a:ln w="25400">
            <a:solidFill>
              <a:srgbClr val="0B7A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0" name="Connector 159"/>
          <p:cNvCxnSpPr/>
          <p:nvPr/>
        </p:nvCxnSpPr>
        <p:spPr>
          <a:xfrm>
            <a:off x="12527280" y="5486400"/>
            <a:ext cx="0" cy="411480"/>
          </a:xfrm>
          <a:prstGeom prst="line">
            <a:avLst/>
          </a:prstGeom>
          <a:ln w="25400">
            <a:solidFill>
              <a:srgbClr val="0B7A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1" name="Connector 160"/>
          <p:cNvCxnSpPr/>
          <p:nvPr/>
        </p:nvCxnSpPr>
        <p:spPr>
          <a:xfrm>
            <a:off x="15636240" y="5486400"/>
            <a:ext cx="0" cy="411480"/>
          </a:xfrm>
          <a:prstGeom prst="line">
            <a:avLst/>
          </a:prstGeom>
          <a:ln w="25400">
            <a:solidFill>
              <a:srgbClr val="0B7A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2" name="Connector 161"/>
          <p:cNvCxnSpPr/>
          <p:nvPr/>
        </p:nvCxnSpPr>
        <p:spPr>
          <a:xfrm flipH="1">
            <a:off x="10789919" y="6355080"/>
            <a:ext cx="320041" cy="0"/>
          </a:xfrm>
          <a:prstGeom prst="line">
            <a:avLst/>
          </a:prstGeom>
          <a:ln w="25400">
            <a:solidFill>
              <a:srgbClr val="0B7A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3" name="Connector 162"/>
          <p:cNvCxnSpPr/>
          <p:nvPr/>
        </p:nvCxnSpPr>
        <p:spPr>
          <a:xfrm>
            <a:off x="9372600" y="6812280"/>
            <a:ext cx="0" cy="411480"/>
          </a:xfrm>
          <a:prstGeom prst="line">
            <a:avLst/>
          </a:prstGeom>
          <a:ln w="25400">
            <a:solidFill>
              <a:srgbClr val="0B7A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4" name="Connector 163"/>
          <p:cNvCxnSpPr/>
          <p:nvPr/>
        </p:nvCxnSpPr>
        <p:spPr>
          <a:xfrm>
            <a:off x="12527280" y="6812280"/>
            <a:ext cx="0" cy="411480"/>
          </a:xfrm>
          <a:prstGeom prst="line">
            <a:avLst/>
          </a:prstGeom>
          <a:ln w="25400">
            <a:solidFill>
              <a:srgbClr val="0B7A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5" name="Connector 164"/>
          <p:cNvCxnSpPr/>
          <p:nvPr/>
        </p:nvCxnSpPr>
        <p:spPr>
          <a:xfrm>
            <a:off x="15636240" y="6812280"/>
            <a:ext cx="0" cy="411480"/>
          </a:xfrm>
          <a:prstGeom prst="line">
            <a:avLst/>
          </a:prstGeom>
          <a:ln w="25400">
            <a:solidFill>
              <a:srgbClr val="0B7A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6" name="Connector 165"/>
          <p:cNvCxnSpPr/>
          <p:nvPr/>
        </p:nvCxnSpPr>
        <p:spPr>
          <a:xfrm>
            <a:off x="13944600" y="7680960"/>
            <a:ext cx="320040" cy="0"/>
          </a:xfrm>
          <a:prstGeom prst="line">
            <a:avLst/>
          </a:prstGeom>
          <a:ln w="25400">
            <a:solidFill>
              <a:srgbClr val="0B7A80"/>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167" name="Connector 166"/>
          <p:cNvCxnSpPr/>
          <p:nvPr/>
        </p:nvCxnSpPr>
        <p:spPr>
          <a:xfrm>
            <a:off x="9372600" y="8138160"/>
            <a:ext cx="0" cy="411480"/>
          </a:xfrm>
          <a:prstGeom prst="line">
            <a:avLst/>
          </a:prstGeom>
          <a:ln w="25400">
            <a:solidFill>
              <a:srgbClr val="0B7A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8" name="Connector 167"/>
          <p:cNvCxnSpPr/>
          <p:nvPr/>
        </p:nvCxnSpPr>
        <p:spPr>
          <a:xfrm>
            <a:off x="12527280" y="8138160"/>
            <a:ext cx="0" cy="411480"/>
          </a:xfrm>
          <a:prstGeom prst="line">
            <a:avLst/>
          </a:prstGeom>
          <a:ln w="25400">
            <a:solidFill>
              <a:srgbClr val="0B7A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9" name="Connector 168"/>
          <p:cNvCxnSpPr/>
          <p:nvPr/>
        </p:nvCxnSpPr>
        <p:spPr>
          <a:xfrm>
            <a:off x="13944600" y="9006840"/>
            <a:ext cx="320040" cy="0"/>
          </a:xfrm>
          <a:prstGeom prst="line">
            <a:avLst/>
          </a:prstGeom>
          <a:ln w="25400">
            <a:solidFill>
              <a:srgbClr val="1E7B4F"/>
            </a:solidFill>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4"/>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l="-7180" t="-19076" r="-3000" b="-11427"/>
            </a:stretch>
          </a:blipFill>
          <a:ln>
            <a:noFill/>
          </a:ln>
        </p:spPr>
        <p:txBody>
          <a:bodyPr/>
          <a:lstStyle/>
          <a:p>
            <a:endParaRPr/>
          </a:p>
        </p:txBody>
      </p:sp>
      <p:sp>
        <p:nvSpPr>
          <p:cNvPr id="140" name="Google Shape;140;p4"/>
          <p:cNvSpPr/>
          <p:nvPr/>
        </p:nvSpPr>
        <p:spPr>
          <a:xfrm>
            <a:off x="5317038" y="-4518398"/>
            <a:ext cx="22188662" cy="18920878"/>
          </a:xfrm>
          <a:custGeom>
            <a:avLst/>
            <a:gdLst/>
            <a:ahLst/>
            <a:cxnLst/>
            <a:rect l="l" t="t" r="r" b="b"/>
            <a:pathLst>
              <a:path w="22188662" h="18920878" extrusionOk="0">
                <a:moveTo>
                  <a:pt x="0" y="0"/>
                </a:moveTo>
                <a:lnTo>
                  <a:pt x="22188663" y="0"/>
                </a:lnTo>
                <a:lnTo>
                  <a:pt x="22188663" y="18920878"/>
                </a:lnTo>
                <a:lnTo>
                  <a:pt x="0" y="18920878"/>
                </a:lnTo>
                <a:lnTo>
                  <a:pt x="0" y="0"/>
                </a:lnTo>
                <a:close/>
              </a:path>
            </a:pathLst>
          </a:custGeom>
          <a:blipFill rotWithShape="1">
            <a:blip r:embed="rId4">
              <a:alphaModFix/>
            </a:blip>
            <a:stretch>
              <a:fillRect/>
            </a:stretch>
          </a:blipFill>
          <a:ln>
            <a:noFill/>
          </a:ln>
        </p:spPr>
        <p:txBody>
          <a:bodyPr/>
          <a:lstStyle/>
          <a:p>
            <a:endParaRPr/>
          </a:p>
        </p:txBody>
      </p:sp>
      <p:sp>
        <p:nvSpPr>
          <p:cNvPr id="127" name="Google Shape;127;p2"/>
          <p:cNvSpPr txBox="1"/>
          <p:nvPr/>
        </p:nvSpPr>
        <p:spPr>
          <a:xfrm>
            <a:off x="1028700" y="838200"/>
            <a:ext cx="16276320" cy="1704975"/>
          </a:xfrm>
          <a:prstGeom prst="rect">
            <a:avLst/>
          </a:prstGeom>
          <a:noFill/>
          <a:ln>
            <a:noFill/>
          </a:ln>
        </p:spPr>
        <p:txBody>
          <a:bodyPr spcFirstLastPara="1" wrap="square" lIns="0" tIns="0" rIns="0" bIns="0" anchor="t" anchorCtr="0">
            <a:spAutoFit/>
          </a:bodyPr>
          <a:lstStyle/>
          <a:p>
            <a:pPr marL="0" marR="0" lvl="0" indent="0" algn="l" rtl="0">
              <a:lnSpc>
                <a:spcPct val="119993"/>
              </a:lnSpc>
              <a:spcBef>
                <a:spcPts val="0"/>
              </a:spcBef>
              <a:spcAft>
                <a:spcPts val="0"/>
              </a:spcAft>
              <a:buNone/>
            </a:pPr>
            <a:r>
              <a:rPr lang="en-US" sz="9978" b="0" i="0" u="none" strike="noStrike" cap="none">
                <a:solidFill>
                  <a:srgbClr val="5DE0E6"/>
                </a:solidFill>
                <a:latin typeface="Times"/>
                <a:ea typeface="Times"/>
                <a:cs typeface="Times"/>
                <a:sym typeface="Times"/>
              </a:rPr>
              <a:t>Security Pipeline</a:t>
            </a:r>
            <a:endParaRPr/>
          </a:p>
        </p:txBody>
      </p:sp>
      <p:sp>
        <p:nvSpPr>
          <p:cNvPr id="141" name="Rounded Rectangle 140"/>
          <p:cNvSpPr/>
          <p:nvPr/>
        </p:nvSpPr>
        <p:spPr>
          <a:xfrm>
            <a:off x="1028700" y="2697480"/>
            <a:ext cx="2971800" cy="2606040"/>
          </a:xfrm>
          <a:prstGeom prst="roundRect">
            <a:avLst>
              <a:gd name="adj" fmla="val 6000"/>
            </a:avLst>
          </a:prstGeom>
          <a:solidFill>
            <a:srgbClr val="FFFFFF"/>
          </a:solidFill>
          <a:ln w="12700">
            <a:solidFill>
              <a:srgbClr val="C9DAE3"/>
            </a:solidFill>
          </a:ln>
          <a:effectLst>
            <a:outerShdw blurRad="190500" dist="38100" dir="5400000" algn="t" rotWithShape="0">
              <a:srgbClr val="0F2A3D">
                <a:alpha val="14000"/>
              </a:srgbClr>
            </a:outerShdw>
          </a:effectLst>
        </p:spPr>
        <p:txBody>
          <a:bodyPr wrap="square" lIns="109728" tIns="65836" rIns="109728" bIns="65836" rtlCol="0" anchor="ctr"/>
          <a:lstStyle/>
          <a:p>
            <a:pPr algn="ctr"/>
            <a:endParaRPr/>
          </a:p>
        </p:txBody>
      </p:sp>
      <p:sp>
        <p:nvSpPr>
          <p:cNvPr id="142" name="Oval 141"/>
          <p:cNvSpPr/>
          <p:nvPr/>
        </p:nvSpPr>
        <p:spPr>
          <a:xfrm>
            <a:off x="1257300" y="2926080"/>
            <a:ext cx="502920" cy="502920"/>
          </a:xfrm>
          <a:prstGeom prst="ellipse">
            <a:avLst/>
          </a:prstGeom>
          <a:solidFill>
            <a:srgbClr val="0B7A80"/>
          </a:solidFill>
          <a:ln>
            <a:noFill/>
          </a:ln>
          <a:effectLst/>
        </p:spPr>
        <p:txBody>
          <a:bodyPr wrap="square" lIns="0" tIns="0" rIns="0" bIns="0" rtlCol="0" anchor="ctr"/>
          <a:lstStyle/>
          <a:p>
            <a:pPr algn="ctr"/>
            <a:r>
              <a:rPr sz="1700" b="1" i="0">
                <a:solidFill>
                  <a:srgbClr val="FFFFFF"/>
                </a:solidFill>
                <a:latin typeface="Arial"/>
              </a:rPr>
              <a:t>1</a:t>
            </a:r>
          </a:p>
        </p:txBody>
      </p:sp>
      <p:sp>
        <p:nvSpPr>
          <p:cNvPr id="143" name="TextBox 142"/>
          <p:cNvSpPr txBox="1"/>
          <p:nvPr/>
        </p:nvSpPr>
        <p:spPr>
          <a:xfrm>
            <a:off x="1257300" y="3566160"/>
            <a:ext cx="2514600" cy="685800"/>
          </a:xfrm>
          <a:prstGeom prst="rect">
            <a:avLst/>
          </a:prstGeom>
          <a:noFill/>
        </p:spPr>
        <p:txBody>
          <a:bodyPr wrap="square" lIns="0" tIns="0" rIns="0" bIns="0" anchor="t">
            <a:spAutoFit/>
          </a:bodyPr>
          <a:lstStyle/>
          <a:p>
            <a:pPr algn="l"/>
            <a:r>
              <a:rPr sz="1700" b="1" i="0">
                <a:solidFill>
                  <a:srgbClr val="0F2A3D"/>
                </a:solidFill>
                <a:latin typeface="Arial"/>
              </a:rPr>
              <a:t>Capture &amp; canonicalize</a:t>
            </a:r>
          </a:p>
        </p:txBody>
      </p:sp>
      <p:sp>
        <p:nvSpPr>
          <p:cNvPr id="144" name="TextBox 143"/>
          <p:cNvSpPr txBox="1"/>
          <p:nvPr/>
        </p:nvSpPr>
        <p:spPr>
          <a:xfrm>
            <a:off x="1257300" y="4069080"/>
            <a:ext cx="2514600" cy="1143000"/>
          </a:xfrm>
          <a:prstGeom prst="rect">
            <a:avLst/>
          </a:prstGeom>
          <a:noFill/>
        </p:spPr>
        <p:txBody>
          <a:bodyPr wrap="square" lIns="0" tIns="0" rIns="0" bIns="0" anchor="t">
            <a:spAutoFit/>
          </a:bodyPr>
          <a:lstStyle/>
          <a:p>
            <a:pPr algn="l"/>
            <a:r>
              <a:rPr sz="1350" b="0" i="0">
                <a:solidFill>
                  <a:srgbClr val="33475B"/>
                </a:solidFill>
                <a:latin typeface="Arial"/>
              </a:rPr>
              <a:t>Sorted keys, UTF-8. String contents kept verbatim: invisible characters are hashed and flagged, never stripped.</a:t>
            </a:r>
          </a:p>
        </p:txBody>
      </p:sp>
      <p:cxnSp>
        <p:nvCxnSpPr>
          <p:cNvPr id="145" name="Connector 144"/>
          <p:cNvCxnSpPr/>
          <p:nvPr/>
        </p:nvCxnSpPr>
        <p:spPr>
          <a:xfrm>
            <a:off x="4037076" y="4000500"/>
            <a:ext cx="274320" cy="0"/>
          </a:xfrm>
          <a:prstGeom prst="line">
            <a:avLst/>
          </a:prstGeom>
          <a:ln w="28575">
            <a:solidFill>
              <a:srgbClr val="0B7A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6" name="Rounded Rectangle 145"/>
          <p:cNvSpPr/>
          <p:nvPr/>
        </p:nvSpPr>
        <p:spPr>
          <a:xfrm>
            <a:off x="4347972" y="2697480"/>
            <a:ext cx="2971800" cy="2606040"/>
          </a:xfrm>
          <a:prstGeom prst="roundRect">
            <a:avLst>
              <a:gd name="adj" fmla="val 6000"/>
            </a:avLst>
          </a:prstGeom>
          <a:solidFill>
            <a:srgbClr val="FFFFFF"/>
          </a:solidFill>
          <a:ln w="12700">
            <a:solidFill>
              <a:srgbClr val="C9DAE3"/>
            </a:solidFill>
          </a:ln>
          <a:effectLst>
            <a:outerShdw blurRad="190500" dist="38100" dir="5400000" algn="t" rotWithShape="0">
              <a:srgbClr val="0F2A3D">
                <a:alpha val="14000"/>
              </a:srgbClr>
            </a:outerShdw>
          </a:effectLst>
        </p:spPr>
        <p:txBody>
          <a:bodyPr wrap="square" lIns="109728" tIns="65836" rIns="109728" bIns="65836" rtlCol="0" anchor="ctr"/>
          <a:lstStyle/>
          <a:p>
            <a:pPr algn="ctr"/>
            <a:endParaRPr/>
          </a:p>
        </p:txBody>
      </p:sp>
      <p:sp>
        <p:nvSpPr>
          <p:cNvPr id="147" name="Oval 146"/>
          <p:cNvSpPr/>
          <p:nvPr/>
        </p:nvSpPr>
        <p:spPr>
          <a:xfrm>
            <a:off x="4576572" y="2926080"/>
            <a:ext cx="502920" cy="502920"/>
          </a:xfrm>
          <a:prstGeom prst="ellipse">
            <a:avLst/>
          </a:prstGeom>
          <a:solidFill>
            <a:srgbClr val="0B7A80"/>
          </a:solidFill>
          <a:ln>
            <a:noFill/>
          </a:ln>
          <a:effectLst/>
        </p:spPr>
        <p:txBody>
          <a:bodyPr wrap="square" lIns="0" tIns="0" rIns="0" bIns="0" rtlCol="0" anchor="ctr"/>
          <a:lstStyle/>
          <a:p>
            <a:pPr algn="ctr"/>
            <a:r>
              <a:rPr sz="1700" b="1" i="0">
                <a:solidFill>
                  <a:srgbClr val="FFFFFF"/>
                </a:solidFill>
                <a:latin typeface="Arial"/>
              </a:rPr>
              <a:t>2</a:t>
            </a:r>
          </a:p>
        </p:txBody>
      </p:sp>
      <p:sp>
        <p:nvSpPr>
          <p:cNvPr id="148" name="TextBox 147"/>
          <p:cNvSpPr txBox="1"/>
          <p:nvPr/>
        </p:nvSpPr>
        <p:spPr>
          <a:xfrm>
            <a:off x="4576572" y="3566160"/>
            <a:ext cx="2514600" cy="685800"/>
          </a:xfrm>
          <a:prstGeom prst="rect">
            <a:avLst/>
          </a:prstGeom>
          <a:noFill/>
        </p:spPr>
        <p:txBody>
          <a:bodyPr wrap="square" lIns="0" tIns="0" rIns="0" bIns="0" anchor="t">
            <a:spAutoFit/>
          </a:bodyPr>
          <a:lstStyle/>
          <a:p>
            <a:pPr algn="l"/>
            <a:r>
              <a:rPr sz="1700" b="1" i="0">
                <a:solidFill>
                  <a:srgbClr val="0F2A3D"/>
                </a:solidFill>
                <a:latin typeface="Arial"/>
              </a:rPr>
              <a:t>Deterministic scanner</a:t>
            </a:r>
          </a:p>
        </p:txBody>
      </p:sp>
      <p:sp>
        <p:nvSpPr>
          <p:cNvPr id="149" name="TextBox 148"/>
          <p:cNvSpPr txBox="1"/>
          <p:nvPr/>
        </p:nvSpPr>
        <p:spPr>
          <a:xfrm>
            <a:off x="4576572" y="4069080"/>
            <a:ext cx="2514600" cy="1143000"/>
          </a:xfrm>
          <a:prstGeom prst="rect">
            <a:avLst/>
          </a:prstGeom>
          <a:noFill/>
        </p:spPr>
        <p:txBody>
          <a:bodyPr wrap="square" lIns="0" tIns="0" rIns="0" bIns="0" anchor="t">
            <a:spAutoFit/>
          </a:bodyPr>
          <a:lstStyle/>
          <a:p>
            <a:pPr algn="l"/>
            <a:r>
              <a:rPr sz="1350" b="0" i="0">
                <a:solidFill>
                  <a:srgbClr val="33475B"/>
                </a:solidFill>
                <a:latin typeface="Arial"/>
              </a:rPr>
              <a:t>Zero-width, tag &amp; bidi characters · secret paths · external URLs · concealment · imperatives · name collisions.</a:t>
            </a:r>
          </a:p>
        </p:txBody>
      </p:sp>
      <p:cxnSp>
        <p:nvCxnSpPr>
          <p:cNvPr id="150" name="Connector 149"/>
          <p:cNvCxnSpPr/>
          <p:nvPr/>
        </p:nvCxnSpPr>
        <p:spPr>
          <a:xfrm>
            <a:off x="7356347" y="4000500"/>
            <a:ext cx="274321" cy="0"/>
          </a:xfrm>
          <a:prstGeom prst="line">
            <a:avLst/>
          </a:prstGeom>
          <a:ln w="28575">
            <a:solidFill>
              <a:srgbClr val="0B7A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1" name="Rounded Rectangle 150"/>
          <p:cNvSpPr/>
          <p:nvPr/>
        </p:nvSpPr>
        <p:spPr>
          <a:xfrm>
            <a:off x="7667244" y="2697480"/>
            <a:ext cx="2971800" cy="2606040"/>
          </a:xfrm>
          <a:prstGeom prst="roundRect">
            <a:avLst>
              <a:gd name="adj" fmla="val 6000"/>
            </a:avLst>
          </a:prstGeom>
          <a:solidFill>
            <a:srgbClr val="FFFFFF"/>
          </a:solidFill>
          <a:ln w="12700">
            <a:solidFill>
              <a:srgbClr val="C9DAE3"/>
            </a:solidFill>
          </a:ln>
          <a:effectLst>
            <a:outerShdw blurRad="190500" dist="38100" dir="5400000" algn="t" rotWithShape="0">
              <a:srgbClr val="0F2A3D">
                <a:alpha val="14000"/>
              </a:srgbClr>
            </a:outerShdw>
          </a:effectLst>
        </p:spPr>
        <p:txBody>
          <a:bodyPr wrap="square" lIns="109728" tIns="65836" rIns="109728" bIns="65836" rtlCol="0" anchor="ctr"/>
          <a:lstStyle/>
          <a:p>
            <a:pPr algn="ctr"/>
            <a:endParaRPr/>
          </a:p>
        </p:txBody>
      </p:sp>
      <p:sp>
        <p:nvSpPr>
          <p:cNvPr id="152" name="Oval 151"/>
          <p:cNvSpPr/>
          <p:nvPr/>
        </p:nvSpPr>
        <p:spPr>
          <a:xfrm>
            <a:off x="7895844" y="2926080"/>
            <a:ext cx="502920" cy="502920"/>
          </a:xfrm>
          <a:prstGeom prst="ellipse">
            <a:avLst/>
          </a:prstGeom>
          <a:solidFill>
            <a:srgbClr val="0B7A80"/>
          </a:solidFill>
          <a:ln>
            <a:noFill/>
          </a:ln>
          <a:effectLst/>
        </p:spPr>
        <p:txBody>
          <a:bodyPr wrap="square" lIns="0" tIns="0" rIns="0" bIns="0" rtlCol="0" anchor="ctr"/>
          <a:lstStyle/>
          <a:p>
            <a:pPr algn="ctr"/>
            <a:r>
              <a:rPr sz="1700" b="1" i="0">
                <a:solidFill>
                  <a:srgbClr val="FFFFFF"/>
                </a:solidFill>
                <a:latin typeface="Arial"/>
              </a:rPr>
              <a:t>3</a:t>
            </a:r>
          </a:p>
        </p:txBody>
      </p:sp>
      <p:sp>
        <p:nvSpPr>
          <p:cNvPr id="153" name="TextBox 152"/>
          <p:cNvSpPr txBox="1"/>
          <p:nvPr/>
        </p:nvSpPr>
        <p:spPr>
          <a:xfrm>
            <a:off x="7895844" y="3566160"/>
            <a:ext cx="2514600" cy="685800"/>
          </a:xfrm>
          <a:prstGeom prst="rect">
            <a:avLst/>
          </a:prstGeom>
          <a:noFill/>
        </p:spPr>
        <p:txBody>
          <a:bodyPr wrap="square" lIns="0" tIns="0" rIns="0" bIns="0" anchor="t">
            <a:spAutoFit/>
          </a:bodyPr>
          <a:lstStyle/>
          <a:p>
            <a:pPr algn="l"/>
            <a:r>
              <a:rPr sz="1700" b="1" i="0">
                <a:solidFill>
                  <a:srgbClr val="0F2A3D"/>
                </a:solidFill>
                <a:latin typeface="Arial"/>
              </a:rPr>
              <a:t>LLM analyzer (advisory)</a:t>
            </a:r>
          </a:p>
        </p:txBody>
      </p:sp>
      <p:sp>
        <p:nvSpPr>
          <p:cNvPr id="154" name="TextBox 153"/>
          <p:cNvSpPr txBox="1"/>
          <p:nvPr/>
        </p:nvSpPr>
        <p:spPr>
          <a:xfrm>
            <a:off x="7895844" y="4069080"/>
            <a:ext cx="2514600" cy="1143000"/>
          </a:xfrm>
          <a:prstGeom prst="rect">
            <a:avLst/>
          </a:prstGeom>
          <a:noFill/>
        </p:spPr>
        <p:txBody>
          <a:bodyPr wrap="square" lIns="0" tIns="0" rIns="0" bIns="0" anchor="t">
            <a:spAutoFit/>
          </a:bodyPr>
          <a:lstStyle/>
          <a:p>
            <a:pPr algn="l"/>
            <a:r>
              <a:rPr sz="1350" b="0" i="0">
                <a:solidFill>
                  <a:srgbClr val="33475B"/>
                </a:solidFill>
                <a:latin typeface="Arial"/>
              </a:rPr>
              <a:t>Tool text wrapped as untrusted data; schema-only output. It can add findings, never remove scanner ones.</a:t>
            </a:r>
          </a:p>
        </p:txBody>
      </p:sp>
      <p:cxnSp>
        <p:nvCxnSpPr>
          <p:cNvPr id="155" name="Connector 154"/>
          <p:cNvCxnSpPr/>
          <p:nvPr/>
        </p:nvCxnSpPr>
        <p:spPr>
          <a:xfrm>
            <a:off x="10675619" y="4000500"/>
            <a:ext cx="274321" cy="0"/>
          </a:xfrm>
          <a:prstGeom prst="line">
            <a:avLst/>
          </a:prstGeom>
          <a:ln w="28575">
            <a:solidFill>
              <a:srgbClr val="0B7A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6" name="Rounded Rectangle 155"/>
          <p:cNvSpPr/>
          <p:nvPr/>
        </p:nvSpPr>
        <p:spPr>
          <a:xfrm>
            <a:off x="10986516" y="2697480"/>
            <a:ext cx="2971800" cy="2606040"/>
          </a:xfrm>
          <a:prstGeom prst="roundRect">
            <a:avLst>
              <a:gd name="adj" fmla="val 6000"/>
            </a:avLst>
          </a:prstGeom>
          <a:solidFill>
            <a:srgbClr val="FFFFFF"/>
          </a:solidFill>
          <a:ln w="12700">
            <a:solidFill>
              <a:srgbClr val="C9DAE3"/>
            </a:solidFill>
          </a:ln>
          <a:effectLst>
            <a:outerShdw blurRad="190500" dist="38100" dir="5400000" algn="t" rotWithShape="0">
              <a:srgbClr val="0F2A3D">
                <a:alpha val="14000"/>
              </a:srgbClr>
            </a:outerShdw>
          </a:effectLst>
        </p:spPr>
        <p:txBody>
          <a:bodyPr wrap="square" lIns="109728" tIns="65836" rIns="109728" bIns="65836" rtlCol="0" anchor="ctr"/>
          <a:lstStyle/>
          <a:p>
            <a:pPr algn="ctr"/>
            <a:endParaRPr/>
          </a:p>
        </p:txBody>
      </p:sp>
      <p:sp>
        <p:nvSpPr>
          <p:cNvPr id="157" name="Oval 156"/>
          <p:cNvSpPr/>
          <p:nvPr/>
        </p:nvSpPr>
        <p:spPr>
          <a:xfrm>
            <a:off x="11215116" y="2926080"/>
            <a:ext cx="502920" cy="502920"/>
          </a:xfrm>
          <a:prstGeom prst="ellipse">
            <a:avLst/>
          </a:prstGeom>
          <a:solidFill>
            <a:srgbClr val="0B7A80"/>
          </a:solidFill>
          <a:ln>
            <a:noFill/>
          </a:ln>
          <a:effectLst/>
        </p:spPr>
        <p:txBody>
          <a:bodyPr wrap="square" lIns="0" tIns="0" rIns="0" bIns="0" rtlCol="0" anchor="ctr"/>
          <a:lstStyle/>
          <a:p>
            <a:pPr algn="ctr"/>
            <a:r>
              <a:rPr sz="1700" b="1" i="0">
                <a:solidFill>
                  <a:srgbClr val="FFFFFF"/>
                </a:solidFill>
                <a:latin typeface="Arial"/>
              </a:rPr>
              <a:t>4</a:t>
            </a:r>
          </a:p>
        </p:txBody>
      </p:sp>
      <p:sp>
        <p:nvSpPr>
          <p:cNvPr id="158" name="TextBox 157"/>
          <p:cNvSpPr txBox="1"/>
          <p:nvPr/>
        </p:nvSpPr>
        <p:spPr>
          <a:xfrm>
            <a:off x="11215116" y="3566160"/>
            <a:ext cx="2514600" cy="685800"/>
          </a:xfrm>
          <a:prstGeom prst="rect">
            <a:avLst/>
          </a:prstGeom>
          <a:noFill/>
        </p:spPr>
        <p:txBody>
          <a:bodyPr wrap="square" lIns="0" tIns="0" rIns="0" bIns="0" anchor="t">
            <a:spAutoFit/>
          </a:bodyPr>
          <a:lstStyle/>
          <a:p>
            <a:pPr algn="l"/>
            <a:r>
              <a:rPr sz="1700" b="1" i="0">
                <a:solidFill>
                  <a:srgbClr val="0F2A3D"/>
                </a:solidFill>
                <a:latin typeface="Arial"/>
              </a:rPr>
              <a:t>Fingerprint &amp; manifest</a:t>
            </a:r>
          </a:p>
        </p:txBody>
      </p:sp>
      <p:sp>
        <p:nvSpPr>
          <p:cNvPr id="159" name="TextBox 158"/>
          <p:cNvSpPr txBox="1"/>
          <p:nvPr/>
        </p:nvSpPr>
        <p:spPr>
          <a:xfrm>
            <a:off x="11215116" y="4069080"/>
            <a:ext cx="2514600" cy="1143000"/>
          </a:xfrm>
          <a:prstGeom prst="rect">
            <a:avLst/>
          </a:prstGeom>
          <a:noFill/>
        </p:spPr>
        <p:txBody>
          <a:bodyPr wrap="square" lIns="0" tIns="0" rIns="0" bIns="0" anchor="t">
            <a:spAutoFit/>
          </a:bodyPr>
          <a:lstStyle/>
          <a:p>
            <a:pPr algn="l"/>
            <a:r>
              <a:rPr sz="1350" b="0" i="0">
                <a:solidFill>
                  <a:srgbClr val="33475B"/>
                </a:solidFill>
                <a:latin typeface="Arial"/>
              </a:rPr>
              <a:t>sha256 over server ID + tool name + definition. Approval is stored against that exact hash.</a:t>
            </a:r>
          </a:p>
        </p:txBody>
      </p:sp>
      <p:cxnSp>
        <p:nvCxnSpPr>
          <p:cNvPr id="160" name="Connector 159"/>
          <p:cNvCxnSpPr/>
          <p:nvPr/>
        </p:nvCxnSpPr>
        <p:spPr>
          <a:xfrm>
            <a:off x="13994892" y="4000500"/>
            <a:ext cx="274320" cy="0"/>
          </a:xfrm>
          <a:prstGeom prst="line">
            <a:avLst/>
          </a:prstGeom>
          <a:ln w="28575">
            <a:solidFill>
              <a:srgbClr val="0B7A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1" name="Rounded Rectangle 160"/>
          <p:cNvSpPr/>
          <p:nvPr/>
        </p:nvSpPr>
        <p:spPr>
          <a:xfrm>
            <a:off x="14305788" y="2697480"/>
            <a:ext cx="2971800" cy="2606040"/>
          </a:xfrm>
          <a:prstGeom prst="roundRect">
            <a:avLst>
              <a:gd name="adj" fmla="val 6000"/>
            </a:avLst>
          </a:prstGeom>
          <a:solidFill>
            <a:srgbClr val="FDECEC"/>
          </a:solidFill>
          <a:ln w="12700">
            <a:solidFill>
              <a:srgbClr val="C62828"/>
            </a:solidFill>
          </a:ln>
          <a:effectLst>
            <a:outerShdw blurRad="190500" dist="38100" dir="5400000" algn="t" rotWithShape="0">
              <a:srgbClr val="0F2A3D">
                <a:alpha val="14000"/>
              </a:srgbClr>
            </a:outerShdw>
          </a:effectLst>
        </p:spPr>
        <p:txBody>
          <a:bodyPr wrap="square" lIns="109728" tIns="65836" rIns="109728" bIns="65836" rtlCol="0" anchor="ctr"/>
          <a:lstStyle/>
          <a:p>
            <a:pPr algn="ctr"/>
            <a:endParaRPr/>
          </a:p>
        </p:txBody>
      </p:sp>
      <p:sp>
        <p:nvSpPr>
          <p:cNvPr id="162" name="Oval 161"/>
          <p:cNvSpPr/>
          <p:nvPr/>
        </p:nvSpPr>
        <p:spPr>
          <a:xfrm>
            <a:off x="14534388" y="2926080"/>
            <a:ext cx="502920" cy="502920"/>
          </a:xfrm>
          <a:prstGeom prst="ellipse">
            <a:avLst/>
          </a:prstGeom>
          <a:solidFill>
            <a:srgbClr val="C62828"/>
          </a:solidFill>
          <a:ln>
            <a:noFill/>
          </a:ln>
          <a:effectLst/>
        </p:spPr>
        <p:txBody>
          <a:bodyPr wrap="square" lIns="0" tIns="0" rIns="0" bIns="0" rtlCol="0" anchor="ctr"/>
          <a:lstStyle/>
          <a:p>
            <a:pPr algn="ctr"/>
            <a:r>
              <a:rPr sz="1700" b="1" i="0">
                <a:solidFill>
                  <a:srgbClr val="FFFFFF"/>
                </a:solidFill>
                <a:latin typeface="Arial"/>
              </a:rPr>
              <a:t>5</a:t>
            </a:r>
          </a:p>
        </p:txBody>
      </p:sp>
      <p:sp>
        <p:nvSpPr>
          <p:cNvPr id="163" name="TextBox 162"/>
          <p:cNvSpPr txBox="1"/>
          <p:nvPr/>
        </p:nvSpPr>
        <p:spPr>
          <a:xfrm>
            <a:off x="14534388" y="3566160"/>
            <a:ext cx="2514600" cy="685800"/>
          </a:xfrm>
          <a:prstGeom prst="rect">
            <a:avLst/>
          </a:prstGeom>
          <a:noFill/>
        </p:spPr>
        <p:txBody>
          <a:bodyPr wrap="square" lIns="0" tIns="0" rIns="0" bIns="0" anchor="t">
            <a:spAutoFit/>
          </a:bodyPr>
          <a:lstStyle/>
          <a:p>
            <a:pPr algn="l"/>
            <a:r>
              <a:rPr sz="1700" b="1" i="0">
                <a:solidFill>
                  <a:srgbClr val="C62828"/>
                </a:solidFill>
                <a:latin typeface="Arial"/>
              </a:rPr>
              <a:t>Call-time gate</a:t>
            </a:r>
          </a:p>
        </p:txBody>
      </p:sp>
      <p:sp>
        <p:nvSpPr>
          <p:cNvPr id="164" name="TextBox 163"/>
          <p:cNvSpPr txBox="1"/>
          <p:nvPr/>
        </p:nvSpPr>
        <p:spPr>
          <a:xfrm>
            <a:off x="14534388" y="4069080"/>
            <a:ext cx="2514600" cy="1143000"/>
          </a:xfrm>
          <a:prstGeom prst="rect">
            <a:avLst/>
          </a:prstGeom>
          <a:noFill/>
        </p:spPr>
        <p:txBody>
          <a:bodyPr wrap="square" lIns="0" tIns="0" rIns="0" bIns="0" anchor="t">
            <a:spAutoFit/>
          </a:bodyPr>
          <a:lstStyle/>
          <a:p>
            <a:pPr algn="l"/>
            <a:r>
              <a:rPr sz="1350" b="0" i="0">
                <a:solidFill>
                  <a:srgbClr val="33475B"/>
                </a:solidFill>
                <a:latin typeface="Arial"/>
              </a:rPr>
              <a:t>Re-fetches tools/list right before every tools/call, re-hashes, compares. Mismatch → block.</a:t>
            </a:r>
          </a:p>
        </p:txBody>
      </p:sp>
      <p:sp>
        <p:nvSpPr>
          <p:cNvPr id="165" name="TextBox 164"/>
          <p:cNvSpPr txBox="1"/>
          <p:nvPr/>
        </p:nvSpPr>
        <p:spPr>
          <a:xfrm>
            <a:off x="1028700" y="5760720"/>
            <a:ext cx="9326880" cy="320040"/>
          </a:xfrm>
          <a:prstGeom prst="rect">
            <a:avLst/>
          </a:prstGeom>
          <a:noFill/>
        </p:spPr>
        <p:txBody>
          <a:bodyPr wrap="square" lIns="0" tIns="0" rIns="0" bIns="0" anchor="t">
            <a:spAutoFit/>
          </a:bodyPr>
          <a:lstStyle/>
          <a:p>
            <a:pPr algn="l"/>
            <a:r>
              <a:rPr sz="1500" b="1" i="0">
                <a:solidFill>
                  <a:srgbClr val="0B7A80"/>
                </a:solidFill>
                <a:latin typeface="Arial"/>
              </a:rPr>
              <a:t>DECISION POLICY</a:t>
            </a:r>
            <a:r>
              <a:rPr sz="1300" b="0" i="0">
                <a:solidFill>
                  <a:srgbClr val="5B6F82"/>
                </a:solidFill>
                <a:latin typeface="Arial"/>
              </a:rPr>
              <a:t>   priority runs top to bottom</a:t>
            </a:r>
          </a:p>
        </p:txBody>
      </p:sp>
      <p:sp>
        <p:nvSpPr>
          <p:cNvPr id="166" name="Rounded Rectangle 165"/>
          <p:cNvSpPr/>
          <p:nvPr/>
        </p:nvSpPr>
        <p:spPr>
          <a:xfrm>
            <a:off x="1028700" y="6172200"/>
            <a:ext cx="9326880" cy="420624"/>
          </a:xfrm>
          <a:prstGeom prst="roundRect">
            <a:avLst>
              <a:gd name="adj" fmla="val 12000"/>
            </a:avLst>
          </a:prstGeom>
          <a:solidFill>
            <a:srgbClr val="FFFFFF"/>
          </a:solidFill>
          <a:ln w="12700">
            <a:solidFill>
              <a:srgbClr val="C9DAE3"/>
            </a:solidFill>
          </a:ln>
          <a:effectLst/>
        </p:spPr>
        <p:txBody>
          <a:bodyPr wrap="square" lIns="164592" tIns="98755" rIns="164592" bIns="98755" rtlCol="0" anchor="ctr"/>
          <a:lstStyle/>
          <a:p>
            <a:pPr algn="l"/>
            <a:r>
              <a:rPr sz="1400" b="0" i="0">
                <a:solidFill>
                  <a:srgbClr val="0F2A3D"/>
                </a:solidFill>
                <a:latin typeface="Arial"/>
              </a:rPr>
              <a:t>Capture or integrity failure</a:t>
            </a:r>
          </a:p>
        </p:txBody>
      </p:sp>
      <p:sp>
        <p:nvSpPr>
          <p:cNvPr id="167" name="Rounded Rectangle 166"/>
          <p:cNvSpPr/>
          <p:nvPr/>
        </p:nvSpPr>
        <p:spPr>
          <a:xfrm>
            <a:off x="6309360" y="6227064"/>
            <a:ext cx="3886200" cy="310896"/>
          </a:xfrm>
          <a:prstGeom prst="roundRect">
            <a:avLst>
              <a:gd name="adj" fmla="val 30000"/>
            </a:avLst>
          </a:prstGeom>
          <a:solidFill>
            <a:srgbClr val="FDECEC"/>
          </a:solidFill>
          <a:ln>
            <a:noFill/>
          </a:ln>
          <a:effectLst/>
        </p:spPr>
        <p:txBody>
          <a:bodyPr wrap="square" lIns="45720" tIns="27432" rIns="45720" bIns="27432" rtlCol="0" anchor="ctr"/>
          <a:lstStyle/>
          <a:p>
            <a:pPr algn="ctr"/>
            <a:r>
              <a:rPr sz="1250" b="1" i="0">
                <a:solidFill>
                  <a:srgbClr val="C62828"/>
                </a:solidFill>
                <a:latin typeface="Arial"/>
              </a:rPr>
              <a:t>BLOCK</a:t>
            </a:r>
          </a:p>
        </p:txBody>
      </p:sp>
      <p:sp>
        <p:nvSpPr>
          <p:cNvPr id="168" name="Rounded Rectangle 167"/>
          <p:cNvSpPr/>
          <p:nvPr/>
        </p:nvSpPr>
        <p:spPr>
          <a:xfrm>
            <a:off x="1028700" y="6647688"/>
            <a:ext cx="9326880" cy="420624"/>
          </a:xfrm>
          <a:prstGeom prst="roundRect">
            <a:avLst>
              <a:gd name="adj" fmla="val 12000"/>
            </a:avLst>
          </a:prstGeom>
          <a:solidFill>
            <a:srgbClr val="FFFFFF"/>
          </a:solidFill>
          <a:ln w="12700">
            <a:solidFill>
              <a:srgbClr val="C9DAE3"/>
            </a:solidFill>
          </a:ln>
          <a:effectLst/>
        </p:spPr>
        <p:txBody>
          <a:bodyPr wrap="square" lIns="164592" tIns="98755" rIns="164592" bIns="98755" rtlCol="0" anchor="ctr"/>
          <a:lstStyle/>
          <a:p>
            <a:pPr algn="l"/>
            <a:r>
              <a:rPr sz="1400" b="0" i="0">
                <a:solidFill>
                  <a:srgbClr val="0F2A3D"/>
                </a:solidFill>
                <a:latin typeface="Arial"/>
              </a:rPr>
              <a:t>No approval exists</a:t>
            </a:r>
          </a:p>
        </p:txBody>
      </p:sp>
      <p:sp>
        <p:nvSpPr>
          <p:cNvPr id="169" name="Rounded Rectangle 168"/>
          <p:cNvSpPr/>
          <p:nvPr/>
        </p:nvSpPr>
        <p:spPr>
          <a:xfrm>
            <a:off x="6309360" y="6702551"/>
            <a:ext cx="3886200" cy="310896"/>
          </a:xfrm>
          <a:prstGeom prst="roundRect">
            <a:avLst>
              <a:gd name="adj" fmla="val 30000"/>
            </a:avLst>
          </a:prstGeom>
          <a:solidFill>
            <a:srgbClr val="FDECEC"/>
          </a:solidFill>
          <a:ln>
            <a:noFill/>
          </a:ln>
          <a:effectLst/>
        </p:spPr>
        <p:txBody>
          <a:bodyPr wrap="square" lIns="45720" tIns="27432" rIns="45720" bIns="27432" rtlCol="0" anchor="ctr"/>
          <a:lstStyle/>
          <a:p>
            <a:pPr algn="ctr"/>
            <a:r>
              <a:rPr sz="1250" b="1" i="0">
                <a:solidFill>
                  <a:srgbClr val="C62828"/>
                </a:solidFill>
                <a:latin typeface="Arial"/>
              </a:rPr>
              <a:t>BLOCK · NO_APPROVAL</a:t>
            </a:r>
          </a:p>
        </p:txBody>
      </p:sp>
      <p:sp>
        <p:nvSpPr>
          <p:cNvPr id="170" name="Rounded Rectangle 169"/>
          <p:cNvSpPr/>
          <p:nvPr/>
        </p:nvSpPr>
        <p:spPr>
          <a:xfrm>
            <a:off x="1028700" y="7123176"/>
            <a:ext cx="9326880" cy="420624"/>
          </a:xfrm>
          <a:prstGeom prst="roundRect">
            <a:avLst>
              <a:gd name="adj" fmla="val 12000"/>
            </a:avLst>
          </a:prstGeom>
          <a:solidFill>
            <a:srgbClr val="FFFFFF"/>
          </a:solidFill>
          <a:ln w="12700">
            <a:solidFill>
              <a:srgbClr val="C9DAE3"/>
            </a:solidFill>
          </a:ln>
          <a:effectLst/>
        </p:spPr>
        <p:txBody>
          <a:bodyPr wrap="square" lIns="164592" tIns="98755" rIns="164592" bIns="98755" rtlCol="0" anchor="ctr"/>
          <a:lstStyle/>
          <a:p>
            <a:pPr algn="l"/>
            <a:r>
              <a:rPr sz="1400" b="0" i="0">
                <a:solidFill>
                  <a:srgbClr val="0F2A3D"/>
                </a:solidFill>
                <a:latin typeface="Arial"/>
              </a:rPr>
              <a:t>Fingerprint ≠ approved fingerprint</a:t>
            </a:r>
          </a:p>
        </p:txBody>
      </p:sp>
      <p:sp>
        <p:nvSpPr>
          <p:cNvPr id="171" name="Rounded Rectangle 170"/>
          <p:cNvSpPr/>
          <p:nvPr/>
        </p:nvSpPr>
        <p:spPr>
          <a:xfrm>
            <a:off x="6309360" y="7178040"/>
            <a:ext cx="3886200" cy="310896"/>
          </a:xfrm>
          <a:prstGeom prst="roundRect">
            <a:avLst>
              <a:gd name="adj" fmla="val 30000"/>
            </a:avLst>
          </a:prstGeom>
          <a:solidFill>
            <a:srgbClr val="FDECEC"/>
          </a:solidFill>
          <a:ln>
            <a:noFill/>
          </a:ln>
          <a:effectLst/>
        </p:spPr>
        <p:txBody>
          <a:bodyPr wrap="square" lIns="45720" tIns="27432" rIns="45720" bIns="27432" rtlCol="0" anchor="ctr"/>
          <a:lstStyle/>
          <a:p>
            <a:pPr algn="ctr"/>
            <a:r>
              <a:rPr sz="1250" b="1" i="0">
                <a:solidFill>
                  <a:srgbClr val="C62828"/>
                </a:solidFill>
                <a:latin typeface="Arial"/>
              </a:rPr>
              <a:t>BLOCK · MANIFEST_DRIFT</a:t>
            </a:r>
          </a:p>
        </p:txBody>
      </p:sp>
      <p:sp>
        <p:nvSpPr>
          <p:cNvPr id="172" name="Rounded Rectangle 171"/>
          <p:cNvSpPr/>
          <p:nvPr/>
        </p:nvSpPr>
        <p:spPr>
          <a:xfrm>
            <a:off x="1028700" y="7598664"/>
            <a:ext cx="9326880" cy="420624"/>
          </a:xfrm>
          <a:prstGeom prst="roundRect">
            <a:avLst>
              <a:gd name="adj" fmla="val 12000"/>
            </a:avLst>
          </a:prstGeom>
          <a:solidFill>
            <a:srgbClr val="FFFFFF"/>
          </a:solidFill>
          <a:ln w="12700">
            <a:solidFill>
              <a:srgbClr val="C9DAE3"/>
            </a:solidFill>
          </a:ln>
          <a:effectLst/>
        </p:spPr>
        <p:txBody>
          <a:bodyPr wrap="square" lIns="164592" tIns="98755" rIns="164592" bIns="98755" rtlCol="0" anchor="ctr"/>
          <a:lstStyle/>
          <a:p>
            <a:pPr algn="l"/>
            <a:r>
              <a:rPr sz="1400" b="0" i="0">
                <a:solidFill>
                  <a:srgbClr val="0F2A3D"/>
                </a:solidFill>
                <a:latin typeface="Arial"/>
              </a:rPr>
              <a:t>High / critical finding</a:t>
            </a:r>
          </a:p>
        </p:txBody>
      </p:sp>
      <p:sp>
        <p:nvSpPr>
          <p:cNvPr id="173" name="Rounded Rectangle 172"/>
          <p:cNvSpPr/>
          <p:nvPr/>
        </p:nvSpPr>
        <p:spPr>
          <a:xfrm>
            <a:off x="6309360" y="7653528"/>
            <a:ext cx="3886200" cy="310896"/>
          </a:xfrm>
          <a:prstGeom prst="roundRect">
            <a:avLst>
              <a:gd name="adj" fmla="val 30000"/>
            </a:avLst>
          </a:prstGeom>
          <a:solidFill>
            <a:srgbClr val="FDECEC"/>
          </a:solidFill>
          <a:ln>
            <a:noFill/>
          </a:ln>
          <a:effectLst/>
        </p:spPr>
        <p:txBody>
          <a:bodyPr wrap="square" lIns="45720" tIns="27432" rIns="45720" bIns="27432" rtlCol="0" anchor="ctr"/>
          <a:lstStyle/>
          <a:p>
            <a:pPr algn="ctr"/>
            <a:r>
              <a:rPr sz="1250" b="1" i="0">
                <a:solidFill>
                  <a:srgbClr val="C62828"/>
                </a:solidFill>
                <a:latin typeface="Arial"/>
              </a:rPr>
              <a:t>BLOCK · no override</a:t>
            </a:r>
          </a:p>
        </p:txBody>
      </p:sp>
      <p:sp>
        <p:nvSpPr>
          <p:cNvPr id="174" name="Rounded Rectangle 173"/>
          <p:cNvSpPr/>
          <p:nvPr/>
        </p:nvSpPr>
        <p:spPr>
          <a:xfrm>
            <a:off x="1028700" y="8074152"/>
            <a:ext cx="9326880" cy="420624"/>
          </a:xfrm>
          <a:prstGeom prst="roundRect">
            <a:avLst>
              <a:gd name="adj" fmla="val 12000"/>
            </a:avLst>
          </a:prstGeom>
          <a:solidFill>
            <a:srgbClr val="FFFFFF"/>
          </a:solidFill>
          <a:ln w="12700">
            <a:solidFill>
              <a:srgbClr val="C9DAE3"/>
            </a:solidFill>
          </a:ln>
          <a:effectLst/>
        </p:spPr>
        <p:txBody>
          <a:bodyPr wrap="square" lIns="164592" tIns="98755" rIns="164592" bIns="98755" rtlCol="0" anchor="ctr"/>
          <a:lstStyle/>
          <a:p>
            <a:pPr algn="l"/>
            <a:r>
              <a:rPr sz="1400" b="0" i="0">
                <a:solidFill>
                  <a:srgbClr val="0F2A3D"/>
                </a:solidFill>
                <a:latin typeface="Arial"/>
              </a:rPr>
              <a:t>Medium finding</a:t>
            </a:r>
          </a:p>
        </p:txBody>
      </p:sp>
      <p:sp>
        <p:nvSpPr>
          <p:cNvPr id="175" name="Rounded Rectangle 174"/>
          <p:cNvSpPr/>
          <p:nvPr/>
        </p:nvSpPr>
        <p:spPr>
          <a:xfrm>
            <a:off x="6309360" y="8129016"/>
            <a:ext cx="3886200" cy="310896"/>
          </a:xfrm>
          <a:prstGeom prst="roundRect">
            <a:avLst>
              <a:gd name="adj" fmla="val 30000"/>
            </a:avLst>
          </a:prstGeom>
          <a:solidFill>
            <a:srgbClr val="FFF3DF"/>
          </a:solidFill>
          <a:ln>
            <a:noFill/>
          </a:ln>
          <a:effectLst/>
        </p:spPr>
        <p:txBody>
          <a:bodyPr wrap="square" lIns="45720" tIns="27432" rIns="45720" bIns="27432" rtlCol="0" anchor="ctr"/>
          <a:lstStyle/>
          <a:p>
            <a:pPr algn="ctr"/>
            <a:r>
              <a:rPr sz="1250" b="1" i="0">
                <a:solidFill>
                  <a:srgbClr val="A85F00"/>
                </a:solidFill>
                <a:latin typeface="Arial"/>
              </a:rPr>
              <a:t>REVIEW + confirmation</a:t>
            </a:r>
          </a:p>
        </p:txBody>
      </p:sp>
      <p:sp>
        <p:nvSpPr>
          <p:cNvPr id="176" name="Rounded Rectangle 175"/>
          <p:cNvSpPr/>
          <p:nvPr/>
        </p:nvSpPr>
        <p:spPr>
          <a:xfrm>
            <a:off x="1028700" y="8549640"/>
            <a:ext cx="9326880" cy="420624"/>
          </a:xfrm>
          <a:prstGeom prst="roundRect">
            <a:avLst>
              <a:gd name="adj" fmla="val 12000"/>
            </a:avLst>
          </a:prstGeom>
          <a:solidFill>
            <a:srgbClr val="FFFFFF"/>
          </a:solidFill>
          <a:ln w="12700">
            <a:solidFill>
              <a:srgbClr val="C9DAE3"/>
            </a:solidFill>
          </a:ln>
          <a:effectLst/>
        </p:spPr>
        <p:txBody>
          <a:bodyPr wrap="square" lIns="164592" tIns="98755" rIns="164592" bIns="98755" rtlCol="0" anchor="ctr"/>
          <a:lstStyle/>
          <a:p>
            <a:pPr algn="l"/>
            <a:r>
              <a:rPr sz="1400" b="0" i="0">
                <a:solidFill>
                  <a:srgbClr val="0F2A3D"/>
                </a:solidFill>
                <a:latin typeface="Arial"/>
              </a:rPr>
              <a:t>Analyzer unavailable</a:t>
            </a:r>
          </a:p>
        </p:txBody>
      </p:sp>
      <p:sp>
        <p:nvSpPr>
          <p:cNvPr id="177" name="Rounded Rectangle 176"/>
          <p:cNvSpPr/>
          <p:nvPr/>
        </p:nvSpPr>
        <p:spPr>
          <a:xfrm>
            <a:off x="6309360" y="8604504"/>
            <a:ext cx="3886200" cy="310896"/>
          </a:xfrm>
          <a:prstGeom prst="roundRect">
            <a:avLst>
              <a:gd name="adj" fmla="val 30000"/>
            </a:avLst>
          </a:prstGeom>
          <a:solidFill>
            <a:srgbClr val="FFF3DF"/>
          </a:solidFill>
          <a:ln>
            <a:noFill/>
          </a:ln>
          <a:effectLst/>
        </p:spPr>
        <p:txBody>
          <a:bodyPr wrap="square" lIns="45720" tIns="27432" rIns="45720" bIns="27432" rtlCol="0" anchor="ctr"/>
          <a:lstStyle/>
          <a:p>
            <a:pPr algn="ctr"/>
            <a:r>
              <a:rPr sz="1250" b="1" i="0">
                <a:solidFill>
                  <a:srgbClr val="A85F00"/>
                </a:solidFill>
                <a:latin typeface="Arial"/>
              </a:rPr>
              <a:t>REVIEW · scanner still enforced</a:t>
            </a:r>
          </a:p>
        </p:txBody>
      </p:sp>
      <p:sp>
        <p:nvSpPr>
          <p:cNvPr id="178" name="Rounded Rectangle 177"/>
          <p:cNvSpPr/>
          <p:nvPr/>
        </p:nvSpPr>
        <p:spPr>
          <a:xfrm>
            <a:off x="1028700" y="9025128"/>
            <a:ext cx="9326880" cy="420624"/>
          </a:xfrm>
          <a:prstGeom prst="roundRect">
            <a:avLst>
              <a:gd name="adj" fmla="val 12000"/>
            </a:avLst>
          </a:prstGeom>
          <a:solidFill>
            <a:srgbClr val="FFFFFF"/>
          </a:solidFill>
          <a:ln w="12700">
            <a:solidFill>
              <a:srgbClr val="C9DAE3"/>
            </a:solidFill>
          </a:ln>
          <a:effectLst/>
        </p:spPr>
        <p:txBody>
          <a:bodyPr wrap="square" lIns="164592" tIns="98755" rIns="164592" bIns="98755" rtlCol="0" anchor="ctr"/>
          <a:lstStyle/>
          <a:p>
            <a:pPr algn="l"/>
            <a:r>
              <a:rPr sz="1400" b="0" i="0">
                <a:solidFill>
                  <a:srgbClr val="0F2A3D"/>
                </a:solidFill>
                <a:latin typeface="Arial"/>
              </a:rPr>
              <a:t>Clean and integrity valid</a:t>
            </a:r>
          </a:p>
        </p:txBody>
      </p:sp>
      <p:sp>
        <p:nvSpPr>
          <p:cNvPr id="179" name="Rounded Rectangle 178"/>
          <p:cNvSpPr/>
          <p:nvPr/>
        </p:nvSpPr>
        <p:spPr>
          <a:xfrm>
            <a:off x="6309360" y="9079992"/>
            <a:ext cx="3886200" cy="310896"/>
          </a:xfrm>
          <a:prstGeom prst="roundRect">
            <a:avLst>
              <a:gd name="adj" fmla="val 30000"/>
            </a:avLst>
          </a:prstGeom>
          <a:solidFill>
            <a:srgbClr val="E6F5EE"/>
          </a:solidFill>
          <a:ln>
            <a:noFill/>
          </a:ln>
          <a:effectLst/>
        </p:spPr>
        <p:txBody>
          <a:bodyPr wrap="square" lIns="45720" tIns="27432" rIns="45720" bIns="27432" rtlCol="0" anchor="ctr"/>
          <a:lstStyle/>
          <a:p>
            <a:pPr algn="ctr"/>
            <a:r>
              <a:rPr sz="1250" b="1" i="0">
                <a:solidFill>
                  <a:srgbClr val="1E7B4F"/>
                </a:solidFill>
                <a:latin typeface="Arial"/>
              </a:rPr>
              <a:t>Eligible for human approval</a:t>
            </a:r>
          </a:p>
        </p:txBody>
      </p:sp>
      <p:sp>
        <p:nvSpPr>
          <p:cNvPr id="180" name="TextBox 179"/>
          <p:cNvSpPr txBox="1"/>
          <p:nvPr/>
        </p:nvSpPr>
        <p:spPr>
          <a:xfrm>
            <a:off x="10835640" y="5760720"/>
            <a:ext cx="6446520" cy="320040"/>
          </a:xfrm>
          <a:prstGeom prst="rect">
            <a:avLst/>
          </a:prstGeom>
          <a:noFill/>
        </p:spPr>
        <p:txBody>
          <a:bodyPr wrap="square" lIns="0" tIns="0" rIns="0" bIns="0" anchor="t">
            <a:spAutoFit/>
          </a:bodyPr>
          <a:lstStyle/>
          <a:p>
            <a:pPr algn="l"/>
            <a:r>
              <a:rPr sz="1500" b="1" i="0">
                <a:solidFill>
                  <a:srgbClr val="0B7A80"/>
                </a:solidFill>
                <a:latin typeface="Arial"/>
              </a:rPr>
              <a:t>THREE INVARIANTS</a:t>
            </a:r>
          </a:p>
        </p:txBody>
      </p:sp>
      <p:sp>
        <p:nvSpPr>
          <p:cNvPr id="181" name="Rounded Rectangle 180"/>
          <p:cNvSpPr/>
          <p:nvPr/>
        </p:nvSpPr>
        <p:spPr>
          <a:xfrm>
            <a:off x="10835640" y="6172200"/>
            <a:ext cx="6446520" cy="1024128"/>
          </a:xfrm>
          <a:prstGeom prst="roundRect">
            <a:avLst>
              <a:gd name="adj" fmla="val 10000"/>
            </a:avLst>
          </a:prstGeom>
          <a:solidFill>
            <a:srgbClr val="EAF6F8"/>
          </a:solidFill>
          <a:ln>
            <a:noFill/>
          </a:ln>
          <a:effectLst/>
        </p:spPr>
        <p:txBody>
          <a:bodyPr wrap="square" lIns="201168" tIns="120700" rIns="201168" bIns="120700" rtlCol="0" anchor="ctr"/>
          <a:lstStyle/>
          <a:p>
            <a:pPr algn="l"/>
            <a:r>
              <a:rPr sz="1500" b="1" i="0">
                <a:solidFill>
                  <a:srgbClr val="0F2A3D"/>
                </a:solidFill>
                <a:latin typeface="Arial"/>
              </a:rPr>
              <a:t>Integrity invariant</a:t>
            </a:r>
          </a:p>
          <a:p>
            <a:pPr algn="l"/>
            <a:r>
              <a:rPr sz="1350" b="0" i="0">
                <a:solidFill>
                  <a:srgbClr val="33475B"/>
                </a:solidFill>
                <a:latin typeface="Arial"/>
              </a:rPr>
              <a:t>A call runs only if the freshly captured manifest equals the approved one and policy still permits it.</a:t>
            </a:r>
          </a:p>
        </p:txBody>
      </p:sp>
      <p:sp>
        <p:nvSpPr>
          <p:cNvPr id="182" name="Rounded Rectangle 181"/>
          <p:cNvSpPr/>
          <p:nvPr/>
        </p:nvSpPr>
        <p:spPr>
          <a:xfrm>
            <a:off x="10835640" y="7296912"/>
            <a:ext cx="6446520" cy="1024128"/>
          </a:xfrm>
          <a:prstGeom prst="roundRect">
            <a:avLst>
              <a:gd name="adj" fmla="val 10000"/>
            </a:avLst>
          </a:prstGeom>
          <a:solidFill>
            <a:srgbClr val="EAF6F8"/>
          </a:solidFill>
          <a:ln>
            <a:noFill/>
          </a:ln>
          <a:effectLst/>
        </p:spPr>
        <p:txBody>
          <a:bodyPr wrap="square" lIns="201168" tIns="120700" rIns="201168" bIns="120700" rtlCol="0" anchor="ctr"/>
          <a:lstStyle/>
          <a:p>
            <a:pPr algn="l"/>
            <a:r>
              <a:rPr sz="1500" b="1" i="0">
                <a:solidFill>
                  <a:srgbClr val="0F2A3D"/>
                </a:solidFill>
                <a:latin typeface="Arial"/>
              </a:rPr>
              <a:t>Representation invariant</a:t>
            </a:r>
          </a:p>
          <a:p>
            <a:pPr algn="l"/>
            <a:r>
              <a:rPr sz="1350" b="0" i="0">
                <a:solidFill>
                  <a:srgbClr val="33475B"/>
                </a:solidFill>
                <a:latin typeface="Arial"/>
              </a:rPr>
              <a:t>The approval UI is generated from the same canonical object the agent's registry receives.</a:t>
            </a:r>
          </a:p>
        </p:txBody>
      </p:sp>
      <p:sp>
        <p:nvSpPr>
          <p:cNvPr id="183" name="Rounded Rectangle 182"/>
          <p:cNvSpPr/>
          <p:nvPr/>
        </p:nvSpPr>
        <p:spPr>
          <a:xfrm>
            <a:off x="10835640" y="8421624"/>
            <a:ext cx="6446520" cy="1024128"/>
          </a:xfrm>
          <a:prstGeom prst="roundRect">
            <a:avLst>
              <a:gd name="adj" fmla="val 10000"/>
            </a:avLst>
          </a:prstGeom>
          <a:solidFill>
            <a:srgbClr val="EAF6F8"/>
          </a:solidFill>
          <a:ln>
            <a:noFill/>
          </a:ln>
          <a:effectLst/>
        </p:spPr>
        <p:txBody>
          <a:bodyPr wrap="square" lIns="201168" tIns="120700" rIns="201168" bIns="120700" rtlCol="0" anchor="ctr"/>
          <a:lstStyle/>
          <a:p>
            <a:pPr algn="l"/>
            <a:r>
              <a:rPr sz="1500" b="1" i="0">
                <a:solidFill>
                  <a:srgbClr val="0F2A3D"/>
                </a:solidFill>
                <a:latin typeface="Arial"/>
              </a:rPr>
              <a:t>Advisor invariant</a:t>
            </a:r>
          </a:p>
          <a:p>
            <a:pPr algn="l"/>
            <a:r>
              <a:rPr sz="1350" b="0" i="0">
                <a:solidFill>
                  <a:srgbClr val="33475B"/>
                </a:solidFill>
                <a:latin typeface="Arial"/>
              </a:rPr>
              <a:t>The analyzer can be wrong or manipulated; integrity never depends on it being right.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5"/>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l="-7180" t="-19076" r="-3000" b="-11427"/>
            </a:stretch>
          </a:blipFill>
          <a:ln>
            <a:noFill/>
          </a:ln>
        </p:spPr>
        <p:txBody>
          <a:bodyPr/>
          <a:lstStyle/>
          <a:p>
            <a:endParaRPr/>
          </a:p>
        </p:txBody>
      </p:sp>
      <p:sp>
        <p:nvSpPr>
          <p:cNvPr id="146" name="Google Shape;146;p5"/>
          <p:cNvSpPr/>
          <p:nvPr/>
        </p:nvSpPr>
        <p:spPr>
          <a:xfrm>
            <a:off x="5317038" y="-4518398"/>
            <a:ext cx="22188662" cy="18920878"/>
          </a:xfrm>
          <a:custGeom>
            <a:avLst/>
            <a:gdLst/>
            <a:ahLst/>
            <a:cxnLst/>
            <a:rect l="l" t="t" r="r" b="b"/>
            <a:pathLst>
              <a:path w="22188662" h="18920878" extrusionOk="0">
                <a:moveTo>
                  <a:pt x="0" y="0"/>
                </a:moveTo>
                <a:lnTo>
                  <a:pt x="22188663" y="0"/>
                </a:lnTo>
                <a:lnTo>
                  <a:pt x="22188663" y="18920878"/>
                </a:lnTo>
                <a:lnTo>
                  <a:pt x="0" y="18920878"/>
                </a:lnTo>
                <a:lnTo>
                  <a:pt x="0" y="0"/>
                </a:lnTo>
                <a:close/>
              </a:path>
            </a:pathLst>
          </a:custGeom>
          <a:blipFill rotWithShape="1">
            <a:blip r:embed="rId4">
              <a:alphaModFix/>
            </a:blip>
            <a:stretch>
              <a:fillRect/>
            </a:stretch>
          </a:blipFill>
          <a:ln>
            <a:noFill/>
          </a:ln>
        </p:spPr>
        <p:txBody>
          <a:bodyPr/>
          <a:lstStyle/>
          <a:p>
            <a:endParaRPr/>
          </a:p>
        </p:txBody>
      </p:sp>
      <p:sp>
        <p:nvSpPr>
          <p:cNvPr id="147" name="Google Shape;147;p5"/>
          <p:cNvSpPr txBox="1"/>
          <p:nvPr/>
        </p:nvSpPr>
        <p:spPr>
          <a:xfrm>
            <a:off x="1028700" y="838200"/>
            <a:ext cx="13222815" cy="1704975"/>
          </a:xfrm>
          <a:prstGeom prst="rect">
            <a:avLst/>
          </a:prstGeom>
          <a:noFill/>
          <a:ln>
            <a:noFill/>
          </a:ln>
        </p:spPr>
        <p:txBody>
          <a:bodyPr spcFirstLastPara="1" wrap="square" lIns="0" tIns="0" rIns="0" bIns="0" anchor="t" anchorCtr="0">
            <a:spAutoFit/>
          </a:bodyPr>
          <a:lstStyle/>
          <a:p>
            <a:pPr marL="0" marR="0" lvl="0" indent="0" algn="l" rtl="0">
              <a:lnSpc>
                <a:spcPct val="119993"/>
              </a:lnSpc>
              <a:spcBef>
                <a:spcPts val="0"/>
              </a:spcBef>
              <a:spcAft>
                <a:spcPts val="0"/>
              </a:spcAft>
              <a:buNone/>
            </a:pPr>
            <a:r>
              <a:rPr lang="en-US" sz="9978" b="0" i="0" u="none" strike="noStrike" cap="none">
                <a:solidFill>
                  <a:srgbClr val="5DE0E6"/>
                </a:solidFill>
                <a:latin typeface="Times"/>
                <a:ea typeface="Times"/>
                <a:cs typeface="Times"/>
                <a:sym typeface="Times"/>
              </a:rPr>
              <a:t>Data Flow Diagram</a:t>
            </a:r>
            <a:endParaRPr/>
          </a:p>
        </p:txBody>
      </p:sp>
      <p:sp>
        <p:nvSpPr>
          <p:cNvPr id="148" name="TextBox 147"/>
          <p:cNvSpPr txBox="1"/>
          <p:nvPr/>
        </p:nvSpPr>
        <p:spPr>
          <a:xfrm>
            <a:off x="1028700" y="2514600"/>
            <a:ext cx="7315200" cy="320040"/>
          </a:xfrm>
          <a:prstGeom prst="rect">
            <a:avLst/>
          </a:prstGeom>
          <a:noFill/>
        </p:spPr>
        <p:txBody>
          <a:bodyPr wrap="square" lIns="0" tIns="0" rIns="0" bIns="0" anchor="t">
            <a:spAutoFit/>
          </a:bodyPr>
          <a:lstStyle/>
          <a:p>
            <a:pPr algn="l"/>
            <a:r>
              <a:rPr sz="1500" b="1" i="0">
                <a:solidFill>
                  <a:srgbClr val="0B7A80"/>
                </a:solidFill>
                <a:latin typeface="Arial"/>
              </a:rPr>
              <a:t>① APPROVAL TIME</a:t>
            </a:r>
          </a:p>
        </p:txBody>
      </p:sp>
      <p:sp>
        <p:nvSpPr>
          <p:cNvPr id="149" name="TextBox 148"/>
          <p:cNvSpPr txBox="1"/>
          <p:nvPr/>
        </p:nvSpPr>
        <p:spPr>
          <a:xfrm>
            <a:off x="1028700" y="5989320"/>
            <a:ext cx="7315200" cy="320040"/>
          </a:xfrm>
          <a:prstGeom prst="rect">
            <a:avLst/>
          </a:prstGeom>
          <a:noFill/>
        </p:spPr>
        <p:txBody>
          <a:bodyPr wrap="square" lIns="0" tIns="0" rIns="0" bIns="0" anchor="t">
            <a:spAutoFit/>
          </a:bodyPr>
          <a:lstStyle/>
          <a:p>
            <a:pPr algn="l"/>
            <a:r>
              <a:rPr sz="1500" b="1" i="0">
                <a:solidFill>
                  <a:srgbClr val="0B7A80"/>
                </a:solidFill>
                <a:latin typeface="Arial"/>
              </a:rPr>
              <a:t>② CALL TIME (every tools/call)</a:t>
            </a:r>
          </a:p>
        </p:txBody>
      </p:sp>
      <p:sp>
        <p:nvSpPr>
          <p:cNvPr id="150" name="Rectangle 149"/>
          <p:cNvSpPr/>
          <p:nvPr/>
        </p:nvSpPr>
        <p:spPr>
          <a:xfrm>
            <a:off x="1028700" y="2926080"/>
            <a:ext cx="2286000" cy="1097280"/>
          </a:xfrm>
          <a:prstGeom prst="rect">
            <a:avLst/>
          </a:prstGeom>
          <a:solidFill>
            <a:srgbClr val="0F2A3D"/>
          </a:solidFill>
          <a:ln>
            <a:noFill/>
          </a:ln>
          <a:effectLst/>
        </p:spPr>
        <p:txBody>
          <a:bodyPr wrap="square" lIns="73152" tIns="43891" rIns="73152" bIns="43891" rtlCol="0" anchor="ctr"/>
          <a:lstStyle/>
          <a:p>
            <a:pPr algn="ctr"/>
            <a:r>
              <a:rPr sz="1400" b="1" i="0">
                <a:solidFill>
                  <a:srgbClr val="FFFFFF"/>
                </a:solidFill>
                <a:latin typeface="Arial"/>
              </a:rPr>
              <a:t>MCP server</a:t>
            </a:r>
          </a:p>
          <a:p>
            <a:pPr algn="ctr"/>
            <a:r>
              <a:rPr sz="1150" b="0" i="0">
                <a:solidFill>
                  <a:srgbClr val="BFD3DE"/>
                </a:solidFill>
                <a:latin typeface="Arial"/>
              </a:rPr>
              <a:t>untrusted</a:t>
            </a:r>
          </a:p>
        </p:txBody>
      </p:sp>
      <p:sp>
        <p:nvSpPr>
          <p:cNvPr id="151" name="Rounded Rectangle 150"/>
          <p:cNvSpPr/>
          <p:nvPr/>
        </p:nvSpPr>
        <p:spPr>
          <a:xfrm>
            <a:off x="4206240" y="2926080"/>
            <a:ext cx="2606040" cy="1097280"/>
          </a:xfrm>
          <a:prstGeom prst="roundRect">
            <a:avLst>
              <a:gd name="adj" fmla="val 30000"/>
            </a:avLst>
          </a:prstGeom>
          <a:solidFill>
            <a:srgbClr val="FFFFFF"/>
          </a:solidFill>
          <a:ln w="19050">
            <a:solidFill>
              <a:srgbClr val="0B7A80"/>
            </a:solidFill>
          </a:ln>
          <a:effectLst/>
        </p:spPr>
        <p:txBody>
          <a:bodyPr wrap="square" tIns="54864" bIns="54864" rtlCol="0" anchor="ctr"/>
          <a:lstStyle/>
          <a:p>
            <a:pPr algn="ctr"/>
            <a:r>
              <a:rPr sz="1400" b="1" i="0">
                <a:solidFill>
                  <a:srgbClr val="0B7A80"/>
                </a:solidFill>
                <a:latin typeface="Arial"/>
              </a:rPr>
              <a:t>P1  </a:t>
            </a:r>
            <a:r>
              <a:rPr sz="1400" b="1" i="0">
                <a:solidFill>
                  <a:srgbClr val="0F2A3D"/>
                </a:solidFill>
                <a:latin typeface="Arial"/>
              </a:rPr>
              <a:t>Capture</a:t>
            </a:r>
          </a:p>
          <a:p>
            <a:pPr algn="ctr"/>
            <a:r>
              <a:rPr sz="1150" b="0" i="0">
                <a:solidFill>
                  <a:srgbClr val="5B6F82"/>
                </a:solidFill>
                <a:latin typeface="Arial"/>
              </a:rPr>
              <a:t>canonicalize + hash</a:t>
            </a:r>
          </a:p>
        </p:txBody>
      </p:sp>
      <p:sp>
        <p:nvSpPr>
          <p:cNvPr id="152" name="Rounded Rectangle 151"/>
          <p:cNvSpPr/>
          <p:nvPr/>
        </p:nvSpPr>
        <p:spPr>
          <a:xfrm>
            <a:off x="7680960" y="2926080"/>
            <a:ext cx="2606040" cy="1097280"/>
          </a:xfrm>
          <a:prstGeom prst="roundRect">
            <a:avLst>
              <a:gd name="adj" fmla="val 30000"/>
            </a:avLst>
          </a:prstGeom>
          <a:solidFill>
            <a:srgbClr val="FFFFFF"/>
          </a:solidFill>
          <a:ln w="19050">
            <a:solidFill>
              <a:srgbClr val="0B7A80"/>
            </a:solidFill>
          </a:ln>
          <a:effectLst/>
        </p:spPr>
        <p:txBody>
          <a:bodyPr wrap="square" tIns="54864" bIns="54864" rtlCol="0" anchor="ctr"/>
          <a:lstStyle/>
          <a:p>
            <a:pPr algn="ctr"/>
            <a:r>
              <a:rPr sz="1400" b="1" i="0">
                <a:solidFill>
                  <a:srgbClr val="0B7A80"/>
                </a:solidFill>
                <a:latin typeface="Arial"/>
              </a:rPr>
              <a:t>P2  </a:t>
            </a:r>
            <a:r>
              <a:rPr sz="1400" b="1" i="0">
                <a:solidFill>
                  <a:srgbClr val="0F2A3D"/>
                </a:solidFill>
                <a:latin typeface="Arial"/>
              </a:rPr>
              <a:t>Analyze</a:t>
            </a:r>
          </a:p>
          <a:p>
            <a:pPr algn="ctr"/>
            <a:r>
              <a:rPr sz="1150" b="0" i="0">
                <a:solidFill>
                  <a:srgbClr val="5B6F82"/>
                </a:solidFill>
                <a:latin typeface="Arial"/>
              </a:rPr>
              <a:t>scanner → LLM</a:t>
            </a:r>
          </a:p>
        </p:txBody>
      </p:sp>
      <p:sp>
        <p:nvSpPr>
          <p:cNvPr id="153" name="Rounded Rectangle 152"/>
          <p:cNvSpPr/>
          <p:nvPr/>
        </p:nvSpPr>
        <p:spPr>
          <a:xfrm>
            <a:off x="11155680" y="2926080"/>
            <a:ext cx="2697480" cy="1097280"/>
          </a:xfrm>
          <a:prstGeom prst="roundRect">
            <a:avLst>
              <a:gd name="adj" fmla="val 30000"/>
            </a:avLst>
          </a:prstGeom>
          <a:solidFill>
            <a:srgbClr val="FFFFFF"/>
          </a:solidFill>
          <a:ln w="19050">
            <a:solidFill>
              <a:srgbClr val="0B7A80"/>
            </a:solidFill>
          </a:ln>
          <a:effectLst/>
        </p:spPr>
        <p:txBody>
          <a:bodyPr wrap="square" tIns="54864" bIns="54864" rtlCol="0" anchor="ctr"/>
          <a:lstStyle/>
          <a:p>
            <a:pPr algn="ctr"/>
            <a:r>
              <a:rPr sz="1400" b="1" i="0">
                <a:solidFill>
                  <a:srgbClr val="0B7A80"/>
                </a:solidFill>
                <a:latin typeface="Arial"/>
              </a:rPr>
              <a:t>P3  </a:t>
            </a:r>
            <a:r>
              <a:rPr sz="1400" b="1" i="0">
                <a:solidFill>
                  <a:srgbClr val="0F2A3D"/>
                </a:solidFill>
                <a:latin typeface="Arial"/>
              </a:rPr>
              <a:t>Review</a:t>
            </a:r>
          </a:p>
          <a:p>
            <a:pPr algn="ctr"/>
            <a:r>
              <a:rPr sz="1150" b="0" i="0">
                <a:solidFill>
                  <a:srgbClr val="5B6F82"/>
                </a:solidFill>
                <a:latin typeface="Arial"/>
              </a:rPr>
              <a:t>human vs model view</a:t>
            </a:r>
          </a:p>
        </p:txBody>
      </p:sp>
      <p:sp>
        <p:nvSpPr>
          <p:cNvPr id="154" name="Rectangle 153"/>
          <p:cNvSpPr/>
          <p:nvPr/>
        </p:nvSpPr>
        <p:spPr>
          <a:xfrm>
            <a:off x="14721840" y="2926080"/>
            <a:ext cx="2560320" cy="1097280"/>
          </a:xfrm>
          <a:prstGeom prst="rect">
            <a:avLst/>
          </a:prstGeom>
          <a:solidFill>
            <a:srgbClr val="0F2A3D"/>
          </a:solidFill>
          <a:ln>
            <a:noFill/>
          </a:ln>
          <a:effectLst/>
        </p:spPr>
        <p:txBody>
          <a:bodyPr wrap="square" lIns="73152" tIns="43891" rIns="73152" bIns="43891" rtlCol="0" anchor="ctr"/>
          <a:lstStyle/>
          <a:p>
            <a:pPr algn="ctr"/>
            <a:r>
              <a:rPr sz="1400" b="1" i="0">
                <a:solidFill>
                  <a:srgbClr val="FFFFFF"/>
                </a:solidFill>
                <a:latin typeface="Arial"/>
              </a:rPr>
              <a:t>Human operator</a:t>
            </a:r>
          </a:p>
          <a:p>
            <a:pPr algn="ctr"/>
            <a:r>
              <a:rPr sz="1150" b="0" i="0">
                <a:solidFill>
                  <a:srgbClr val="BFD3DE"/>
                </a:solidFill>
                <a:latin typeface="Arial"/>
              </a:rPr>
              <a:t>approve / block</a:t>
            </a:r>
          </a:p>
        </p:txBody>
      </p:sp>
      <p:cxnSp>
        <p:nvCxnSpPr>
          <p:cNvPr id="155" name="Connector 154"/>
          <p:cNvCxnSpPr/>
          <p:nvPr/>
        </p:nvCxnSpPr>
        <p:spPr>
          <a:xfrm>
            <a:off x="3314700" y="3474720"/>
            <a:ext cx="891540" cy="0"/>
          </a:xfrm>
          <a:prstGeom prst="line">
            <a:avLst/>
          </a:prstGeom>
          <a:ln w="25400">
            <a:solidFill>
              <a:srgbClr val="0B7A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6" name="TextBox 155"/>
          <p:cNvSpPr txBox="1"/>
          <p:nvPr/>
        </p:nvSpPr>
        <p:spPr>
          <a:xfrm>
            <a:off x="3314700" y="3127248"/>
            <a:ext cx="891540" cy="274320"/>
          </a:xfrm>
          <a:prstGeom prst="rect">
            <a:avLst/>
          </a:prstGeom>
          <a:noFill/>
        </p:spPr>
        <p:txBody>
          <a:bodyPr wrap="square" lIns="0" tIns="0" rIns="0" bIns="0" anchor="t">
            <a:spAutoFit/>
          </a:bodyPr>
          <a:lstStyle/>
          <a:p>
            <a:pPr algn="ctr"/>
            <a:r>
              <a:rPr sz="1050" b="0" i="0">
                <a:solidFill>
                  <a:srgbClr val="5B6F82"/>
                </a:solidFill>
                <a:latin typeface="Courier New"/>
              </a:rPr>
              <a:t>tools/list</a:t>
            </a:r>
          </a:p>
        </p:txBody>
      </p:sp>
      <p:cxnSp>
        <p:nvCxnSpPr>
          <p:cNvPr id="157" name="Connector 156"/>
          <p:cNvCxnSpPr/>
          <p:nvPr/>
        </p:nvCxnSpPr>
        <p:spPr>
          <a:xfrm>
            <a:off x="6812280" y="3474720"/>
            <a:ext cx="868680" cy="0"/>
          </a:xfrm>
          <a:prstGeom prst="line">
            <a:avLst/>
          </a:prstGeom>
          <a:ln w="25400">
            <a:solidFill>
              <a:srgbClr val="0B7A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8" name="TextBox 157"/>
          <p:cNvSpPr txBox="1"/>
          <p:nvPr/>
        </p:nvSpPr>
        <p:spPr>
          <a:xfrm>
            <a:off x="6812280" y="3127248"/>
            <a:ext cx="868680" cy="274320"/>
          </a:xfrm>
          <a:prstGeom prst="rect">
            <a:avLst/>
          </a:prstGeom>
          <a:noFill/>
        </p:spPr>
        <p:txBody>
          <a:bodyPr wrap="square" lIns="0" tIns="0" rIns="0" bIns="0" anchor="t">
            <a:spAutoFit/>
          </a:bodyPr>
          <a:lstStyle/>
          <a:p>
            <a:pPr algn="ctr"/>
            <a:r>
              <a:rPr sz="1050" b="0" i="0">
                <a:solidFill>
                  <a:srgbClr val="5B6F82"/>
                </a:solidFill>
                <a:latin typeface="Courier New"/>
              </a:rPr>
              <a:t>manifest</a:t>
            </a:r>
          </a:p>
        </p:txBody>
      </p:sp>
      <p:cxnSp>
        <p:nvCxnSpPr>
          <p:cNvPr id="159" name="Connector 158"/>
          <p:cNvCxnSpPr/>
          <p:nvPr/>
        </p:nvCxnSpPr>
        <p:spPr>
          <a:xfrm>
            <a:off x="10287000" y="3474720"/>
            <a:ext cx="868680" cy="0"/>
          </a:xfrm>
          <a:prstGeom prst="line">
            <a:avLst/>
          </a:prstGeom>
          <a:ln w="25400">
            <a:solidFill>
              <a:srgbClr val="0B7A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0" name="TextBox 159"/>
          <p:cNvSpPr txBox="1"/>
          <p:nvPr/>
        </p:nvSpPr>
        <p:spPr>
          <a:xfrm>
            <a:off x="10287000" y="3127248"/>
            <a:ext cx="868680" cy="274320"/>
          </a:xfrm>
          <a:prstGeom prst="rect">
            <a:avLst/>
          </a:prstGeom>
          <a:noFill/>
        </p:spPr>
        <p:txBody>
          <a:bodyPr wrap="square" lIns="0" tIns="0" rIns="0" bIns="0" anchor="t">
            <a:spAutoFit/>
          </a:bodyPr>
          <a:lstStyle/>
          <a:p>
            <a:pPr algn="ctr"/>
            <a:r>
              <a:rPr sz="1050" b="0" i="0">
                <a:solidFill>
                  <a:srgbClr val="5B6F82"/>
                </a:solidFill>
                <a:latin typeface="Courier New"/>
              </a:rPr>
              <a:t>findings</a:t>
            </a:r>
          </a:p>
        </p:txBody>
      </p:sp>
      <p:cxnSp>
        <p:nvCxnSpPr>
          <p:cNvPr id="161" name="Connector 160"/>
          <p:cNvCxnSpPr/>
          <p:nvPr/>
        </p:nvCxnSpPr>
        <p:spPr>
          <a:xfrm>
            <a:off x="13853160" y="3474720"/>
            <a:ext cx="868680" cy="0"/>
          </a:xfrm>
          <a:prstGeom prst="line">
            <a:avLst/>
          </a:prstGeom>
          <a:ln w="25400">
            <a:solidFill>
              <a:srgbClr val="0B7A80"/>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162" name="TextBox 161"/>
          <p:cNvSpPr txBox="1"/>
          <p:nvPr/>
        </p:nvSpPr>
        <p:spPr>
          <a:xfrm>
            <a:off x="13853160" y="3127248"/>
            <a:ext cx="868680" cy="274320"/>
          </a:xfrm>
          <a:prstGeom prst="rect">
            <a:avLst/>
          </a:prstGeom>
          <a:noFill/>
        </p:spPr>
        <p:txBody>
          <a:bodyPr wrap="square" lIns="0" tIns="0" rIns="0" bIns="0" anchor="t">
            <a:spAutoFit/>
          </a:bodyPr>
          <a:lstStyle/>
          <a:p>
            <a:pPr algn="ctr"/>
            <a:r>
              <a:rPr sz="1050" b="0" i="0">
                <a:solidFill>
                  <a:srgbClr val="5B6F82"/>
                </a:solidFill>
                <a:latin typeface="Courier New"/>
              </a:rPr>
              <a:t>decision</a:t>
            </a:r>
          </a:p>
        </p:txBody>
      </p:sp>
      <p:sp>
        <p:nvSpPr>
          <p:cNvPr id="163" name="Rectangle 162"/>
          <p:cNvSpPr/>
          <p:nvPr/>
        </p:nvSpPr>
        <p:spPr>
          <a:xfrm>
            <a:off x="7680960" y="4709160"/>
            <a:ext cx="3977639" cy="685800"/>
          </a:xfrm>
          <a:prstGeom prst="rect">
            <a:avLst/>
          </a:prstGeom>
          <a:solidFill>
            <a:srgbClr val="EAF6F8"/>
          </a:solidFill>
          <a:ln>
            <a:noFill/>
          </a:ln>
          <a:effectLst/>
        </p:spPr>
        <p:txBody>
          <a:bodyPr wrap="square" lIns="137160" tIns="82296" rIns="137160" bIns="82296" rtlCol="0" anchor="ctr"/>
          <a:lstStyle/>
          <a:p>
            <a:pPr algn="l"/>
            <a:r>
              <a:rPr sz="1400" b="1" i="0">
                <a:solidFill>
                  <a:srgbClr val="0B7A80"/>
                </a:solidFill>
                <a:latin typeface="Arial"/>
              </a:rPr>
              <a:t>D1   </a:t>
            </a:r>
            <a:r>
              <a:rPr sz="1400" b="1" i="0">
                <a:solidFill>
                  <a:srgbClr val="0F2A3D"/>
                </a:solidFill>
                <a:latin typeface="Arial"/>
              </a:rPr>
              <a:t>Manifests &amp; approvals</a:t>
            </a:r>
          </a:p>
        </p:txBody>
      </p:sp>
      <p:cxnSp>
        <p:nvCxnSpPr>
          <p:cNvPr id="164" name="Connector 163"/>
          <p:cNvCxnSpPr/>
          <p:nvPr/>
        </p:nvCxnSpPr>
        <p:spPr>
          <a:xfrm>
            <a:off x="7680960" y="4709160"/>
            <a:ext cx="3977640" cy="0"/>
          </a:xfrm>
          <a:prstGeom prst="line">
            <a:avLst/>
          </a:prstGeom>
          <a:ln w="19050">
            <a:solidFill>
              <a:srgbClr val="0B7A80"/>
            </a:solidFill>
          </a:ln>
        </p:spPr>
        <p:style>
          <a:lnRef idx="2">
            <a:schemeClr val="accent1"/>
          </a:lnRef>
          <a:fillRef idx="0">
            <a:schemeClr val="accent1"/>
          </a:fillRef>
          <a:effectRef idx="1">
            <a:schemeClr val="accent1"/>
          </a:effectRef>
          <a:fontRef idx="minor">
            <a:schemeClr val="tx1"/>
          </a:fontRef>
        </p:style>
      </p:cxnSp>
      <p:cxnSp>
        <p:nvCxnSpPr>
          <p:cNvPr id="165" name="Connector 164"/>
          <p:cNvCxnSpPr/>
          <p:nvPr/>
        </p:nvCxnSpPr>
        <p:spPr>
          <a:xfrm>
            <a:off x="7680960" y="5394960"/>
            <a:ext cx="3977640" cy="0"/>
          </a:xfrm>
          <a:prstGeom prst="line">
            <a:avLst/>
          </a:prstGeom>
          <a:ln w="19050">
            <a:solidFill>
              <a:srgbClr val="0B7A80"/>
            </a:solidFill>
          </a:ln>
        </p:spPr>
        <p:style>
          <a:lnRef idx="2">
            <a:schemeClr val="accent1"/>
          </a:lnRef>
          <a:fillRef idx="0">
            <a:schemeClr val="accent1"/>
          </a:fillRef>
          <a:effectRef idx="1">
            <a:schemeClr val="accent1"/>
          </a:effectRef>
          <a:fontRef idx="minor">
            <a:schemeClr val="tx1"/>
          </a:fontRef>
        </p:style>
      </p:cxnSp>
      <p:sp>
        <p:nvSpPr>
          <p:cNvPr id="166" name="Rectangle 165"/>
          <p:cNvSpPr/>
          <p:nvPr/>
        </p:nvSpPr>
        <p:spPr>
          <a:xfrm>
            <a:off x="12435840" y="4709160"/>
            <a:ext cx="4846320" cy="685800"/>
          </a:xfrm>
          <a:prstGeom prst="rect">
            <a:avLst/>
          </a:prstGeom>
          <a:solidFill>
            <a:srgbClr val="EAF6F8"/>
          </a:solidFill>
          <a:ln>
            <a:noFill/>
          </a:ln>
          <a:effectLst/>
        </p:spPr>
        <p:txBody>
          <a:bodyPr wrap="square" lIns="137160" tIns="82296" rIns="137160" bIns="82296" rtlCol="0" anchor="ctr"/>
          <a:lstStyle/>
          <a:p>
            <a:pPr algn="l"/>
            <a:r>
              <a:rPr sz="1400" b="1" i="0">
                <a:solidFill>
                  <a:srgbClr val="0B7A80"/>
                </a:solidFill>
                <a:latin typeface="Arial"/>
              </a:rPr>
              <a:t>D2   </a:t>
            </a:r>
            <a:r>
              <a:rPr sz="1400" b="1" i="0">
                <a:solidFill>
                  <a:srgbClr val="0F2A3D"/>
                </a:solidFill>
                <a:latin typeface="Arial"/>
              </a:rPr>
              <a:t>Audit log (hash-chained)</a:t>
            </a:r>
          </a:p>
        </p:txBody>
      </p:sp>
      <p:cxnSp>
        <p:nvCxnSpPr>
          <p:cNvPr id="167" name="Connector 166"/>
          <p:cNvCxnSpPr/>
          <p:nvPr/>
        </p:nvCxnSpPr>
        <p:spPr>
          <a:xfrm>
            <a:off x="12435840" y="4709160"/>
            <a:ext cx="4846320" cy="0"/>
          </a:xfrm>
          <a:prstGeom prst="line">
            <a:avLst/>
          </a:prstGeom>
          <a:ln w="19050">
            <a:solidFill>
              <a:srgbClr val="0B7A80"/>
            </a:solidFill>
          </a:ln>
        </p:spPr>
        <p:style>
          <a:lnRef idx="2">
            <a:schemeClr val="accent1"/>
          </a:lnRef>
          <a:fillRef idx="0">
            <a:schemeClr val="accent1"/>
          </a:fillRef>
          <a:effectRef idx="1">
            <a:schemeClr val="accent1"/>
          </a:effectRef>
          <a:fontRef idx="minor">
            <a:schemeClr val="tx1"/>
          </a:fontRef>
        </p:style>
      </p:cxnSp>
      <p:cxnSp>
        <p:nvCxnSpPr>
          <p:cNvPr id="168" name="Connector 167"/>
          <p:cNvCxnSpPr/>
          <p:nvPr/>
        </p:nvCxnSpPr>
        <p:spPr>
          <a:xfrm>
            <a:off x="12435840" y="5394960"/>
            <a:ext cx="4846320" cy="0"/>
          </a:xfrm>
          <a:prstGeom prst="line">
            <a:avLst/>
          </a:prstGeom>
          <a:ln w="19050">
            <a:solidFill>
              <a:srgbClr val="0B7A80"/>
            </a:solidFill>
          </a:ln>
        </p:spPr>
        <p:style>
          <a:lnRef idx="2">
            <a:schemeClr val="accent1"/>
          </a:lnRef>
          <a:fillRef idx="0">
            <a:schemeClr val="accent1"/>
          </a:fillRef>
          <a:effectRef idx="1">
            <a:schemeClr val="accent1"/>
          </a:effectRef>
          <a:fontRef idx="minor">
            <a:schemeClr val="tx1"/>
          </a:fontRef>
        </p:style>
      </p:cxnSp>
      <p:cxnSp>
        <p:nvCxnSpPr>
          <p:cNvPr id="169" name="Connector 168"/>
          <p:cNvCxnSpPr/>
          <p:nvPr/>
        </p:nvCxnSpPr>
        <p:spPr>
          <a:xfrm>
            <a:off x="11430000" y="4023360"/>
            <a:ext cx="0" cy="685800"/>
          </a:xfrm>
          <a:prstGeom prst="line">
            <a:avLst/>
          </a:prstGeom>
          <a:ln w="25400">
            <a:solidFill>
              <a:srgbClr val="0B7A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0" name="TextBox 169"/>
          <p:cNvSpPr txBox="1"/>
          <p:nvPr/>
        </p:nvSpPr>
        <p:spPr>
          <a:xfrm>
            <a:off x="9144000" y="4206240"/>
            <a:ext cx="2194560" cy="274320"/>
          </a:xfrm>
          <a:prstGeom prst="rect">
            <a:avLst/>
          </a:prstGeom>
          <a:noFill/>
        </p:spPr>
        <p:txBody>
          <a:bodyPr wrap="square" lIns="0" tIns="0" rIns="0" bIns="0" anchor="t">
            <a:spAutoFit/>
          </a:bodyPr>
          <a:lstStyle/>
          <a:p>
            <a:pPr algn="r"/>
            <a:r>
              <a:rPr sz="1050" b="0" i="0">
                <a:solidFill>
                  <a:srgbClr val="5B6F82"/>
                </a:solidFill>
                <a:latin typeface="Courier New"/>
              </a:rPr>
              <a:t>fingerprint + time</a:t>
            </a:r>
          </a:p>
        </p:txBody>
      </p:sp>
      <p:cxnSp>
        <p:nvCxnSpPr>
          <p:cNvPr id="171" name="Connector 170"/>
          <p:cNvCxnSpPr/>
          <p:nvPr/>
        </p:nvCxnSpPr>
        <p:spPr>
          <a:xfrm>
            <a:off x="13350240" y="4023360"/>
            <a:ext cx="0" cy="685800"/>
          </a:xfrm>
          <a:prstGeom prst="line">
            <a:avLst/>
          </a:prstGeom>
          <a:ln w="25400">
            <a:solidFill>
              <a:srgbClr val="0B7A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2" name="TextBox 171"/>
          <p:cNvSpPr txBox="1"/>
          <p:nvPr/>
        </p:nvSpPr>
        <p:spPr>
          <a:xfrm>
            <a:off x="13441680" y="4206240"/>
            <a:ext cx="1828800" cy="274320"/>
          </a:xfrm>
          <a:prstGeom prst="rect">
            <a:avLst/>
          </a:prstGeom>
          <a:noFill/>
        </p:spPr>
        <p:txBody>
          <a:bodyPr wrap="square" lIns="0" tIns="0" rIns="0" bIns="0" anchor="t">
            <a:spAutoFit/>
          </a:bodyPr>
          <a:lstStyle/>
          <a:p>
            <a:pPr algn="l"/>
            <a:r>
              <a:rPr sz="1050" b="0" i="0">
                <a:solidFill>
                  <a:srgbClr val="5B6F82"/>
                </a:solidFill>
                <a:latin typeface="Courier New"/>
              </a:rPr>
              <a:t>events</a:t>
            </a:r>
          </a:p>
        </p:txBody>
      </p:sp>
      <p:sp>
        <p:nvSpPr>
          <p:cNvPr id="173" name="Rectangle 172"/>
          <p:cNvSpPr/>
          <p:nvPr/>
        </p:nvSpPr>
        <p:spPr>
          <a:xfrm>
            <a:off x="1028700" y="6400800"/>
            <a:ext cx="2286000" cy="1097280"/>
          </a:xfrm>
          <a:prstGeom prst="rect">
            <a:avLst/>
          </a:prstGeom>
          <a:solidFill>
            <a:srgbClr val="0F2A3D"/>
          </a:solidFill>
          <a:ln>
            <a:noFill/>
          </a:ln>
          <a:effectLst/>
        </p:spPr>
        <p:txBody>
          <a:bodyPr wrap="square" lIns="73152" tIns="43891" rIns="73152" bIns="43891" rtlCol="0" anchor="ctr"/>
          <a:lstStyle/>
          <a:p>
            <a:pPr algn="ctr"/>
            <a:r>
              <a:rPr sz="1400" b="1" i="0">
                <a:solidFill>
                  <a:srgbClr val="FFFFFF"/>
                </a:solidFill>
                <a:latin typeface="Arial"/>
              </a:rPr>
              <a:t>Agent / LLM</a:t>
            </a:r>
          </a:p>
          <a:p>
            <a:pPr algn="ctr"/>
            <a:r>
              <a:rPr sz="1150" b="0" i="0">
                <a:solidFill>
                  <a:srgbClr val="BFD3DE"/>
                </a:solidFill>
                <a:latin typeface="Arial"/>
              </a:rPr>
              <a:t>wants a tool</a:t>
            </a:r>
          </a:p>
        </p:txBody>
      </p:sp>
      <p:sp>
        <p:nvSpPr>
          <p:cNvPr id="174" name="Rounded Rectangle 173"/>
          <p:cNvSpPr/>
          <p:nvPr/>
        </p:nvSpPr>
        <p:spPr>
          <a:xfrm>
            <a:off x="4206240" y="6400800"/>
            <a:ext cx="2606040" cy="1097280"/>
          </a:xfrm>
          <a:prstGeom prst="roundRect">
            <a:avLst>
              <a:gd name="adj" fmla="val 30000"/>
            </a:avLst>
          </a:prstGeom>
          <a:solidFill>
            <a:srgbClr val="FFFFFF"/>
          </a:solidFill>
          <a:ln w="19050">
            <a:solidFill>
              <a:srgbClr val="0B7A80"/>
            </a:solidFill>
          </a:ln>
          <a:effectLst/>
        </p:spPr>
        <p:txBody>
          <a:bodyPr wrap="square" tIns="54864" bIns="54864" rtlCol="0" anchor="ctr"/>
          <a:lstStyle/>
          <a:p>
            <a:pPr algn="ctr"/>
            <a:r>
              <a:rPr sz="1400" b="1" i="0">
                <a:solidFill>
                  <a:srgbClr val="0B7A80"/>
                </a:solidFill>
                <a:latin typeface="Arial"/>
              </a:rPr>
              <a:t>P4  </a:t>
            </a:r>
            <a:r>
              <a:rPr sz="1400" b="1" i="0">
                <a:solidFill>
                  <a:srgbClr val="0F2A3D"/>
                </a:solidFill>
                <a:latin typeface="Arial"/>
              </a:rPr>
              <a:t>Gate</a:t>
            </a:r>
          </a:p>
          <a:p>
            <a:pPr algn="ctr"/>
            <a:r>
              <a:rPr sz="1150" b="0" i="0">
                <a:solidFill>
                  <a:srgbClr val="5B6F82"/>
                </a:solidFill>
                <a:latin typeface="Arial"/>
              </a:rPr>
              <a:t>re-fetch + re-hash</a:t>
            </a:r>
          </a:p>
        </p:txBody>
      </p:sp>
      <p:sp>
        <p:nvSpPr>
          <p:cNvPr id="175" name="Rounded Rectangle 174"/>
          <p:cNvSpPr/>
          <p:nvPr/>
        </p:nvSpPr>
        <p:spPr>
          <a:xfrm>
            <a:off x="7680960" y="6400800"/>
            <a:ext cx="2606040" cy="1097280"/>
          </a:xfrm>
          <a:prstGeom prst="roundRect">
            <a:avLst>
              <a:gd name="adj" fmla="val 30000"/>
            </a:avLst>
          </a:prstGeom>
          <a:solidFill>
            <a:srgbClr val="FFFFFF"/>
          </a:solidFill>
          <a:ln w="19050">
            <a:solidFill>
              <a:srgbClr val="0B7A80"/>
            </a:solidFill>
          </a:ln>
          <a:effectLst/>
        </p:spPr>
        <p:txBody>
          <a:bodyPr wrap="square" tIns="54864" bIns="54864" rtlCol="0" anchor="ctr"/>
          <a:lstStyle/>
          <a:p>
            <a:pPr algn="ctr"/>
            <a:r>
              <a:rPr sz="1400" b="1" i="0">
                <a:solidFill>
                  <a:srgbClr val="0B7A80"/>
                </a:solidFill>
                <a:latin typeface="Arial"/>
              </a:rPr>
              <a:t>P5  </a:t>
            </a:r>
            <a:r>
              <a:rPr sz="1400" b="1" i="0">
                <a:solidFill>
                  <a:srgbClr val="0F2A3D"/>
                </a:solidFill>
                <a:latin typeface="Arial"/>
              </a:rPr>
              <a:t>Compare</a:t>
            </a:r>
          </a:p>
          <a:p>
            <a:pPr algn="ctr"/>
            <a:r>
              <a:rPr sz="1150" b="0" i="0">
                <a:solidFill>
                  <a:srgbClr val="5B6F82"/>
                </a:solidFill>
                <a:latin typeface="Arial"/>
              </a:rPr>
              <a:t>vs D1 + policy</a:t>
            </a:r>
          </a:p>
        </p:txBody>
      </p:sp>
      <p:sp>
        <p:nvSpPr>
          <p:cNvPr id="176" name="Rounded Rectangle 175"/>
          <p:cNvSpPr/>
          <p:nvPr/>
        </p:nvSpPr>
        <p:spPr>
          <a:xfrm>
            <a:off x="11155680" y="6080760"/>
            <a:ext cx="2697480" cy="777240"/>
          </a:xfrm>
          <a:prstGeom prst="roundRect">
            <a:avLst>
              <a:gd name="adj" fmla="val 30000"/>
            </a:avLst>
          </a:prstGeom>
          <a:solidFill>
            <a:srgbClr val="E6F5EE"/>
          </a:solidFill>
          <a:ln w="19050">
            <a:solidFill>
              <a:srgbClr val="1E7B4F"/>
            </a:solidFill>
          </a:ln>
          <a:effectLst/>
        </p:spPr>
        <p:txBody>
          <a:bodyPr wrap="square" tIns="54864" bIns="54864" rtlCol="0" anchor="ctr"/>
          <a:lstStyle/>
          <a:p>
            <a:pPr algn="ctr"/>
            <a:r>
              <a:rPr sz="1400" b="1" i="0">
                <a:solidFill>
                  <a:srgbClr val="0B7A80"/>
                </a:solidFill>
                <a:latin typeface="Arial"/>
              </a:rPr>
              <a:t>✓  </a:t>
            </a:r>
            <a:r>
              <a:rPr sz="1400" b="1" i="0">
                <a:solidFill>
                  <a:srgbClr val="1E7B4F"/>
                </a:solidFill>
                <a:latin typeface="Arial"/>
              </a:rPr>
              <a:t>ALLOW</a:t>
            </a:r>
          </a:p>
          <a:p>
            <a:pPr algn="ctr"/>
            <a:endParaRPr sz="1400" b="1" i="0">
              <a:solidFill>
                <a:srgbClr val="1E7B4F"/>
              </a:solidFill>
              <a:latin typeface="Arial"/>
            </a:endParaRPr>
          </a:p>
        </p:txBody>
      </p:sp>
      <p:sp>
        <p:nvSpPr>
          <p:cNvPr id="177" name="Rounded Rectangle 176"/>
          <p:cNvSpPr/>
          <p:nvPr/>
        </p:nvSpPr>
        <p:spPr>
          <a:xfrm>
            <a:off x="11155680" y="7040880"/>
            <a:ext cx="2697480" cy="777240"/>
          </a:xfrm>
          <a:prstGeom prst="roundRect">
            <a:avLst>
              <a:gd name="adj" fmla="val 30000"/>
            </a:avLst>
          </a:prstGeom>
          <a:solidFill>
            <a:srgbClr val="FDECEC"/>
          </a:solidFill>
          <a:ln w="19050">
            <a:solidFill>
              <a:srgbClr val="C62828"/>
            </a:solidFill>
          </a:ln>
          <a:effectLst/>
        </p:spPr>
        <p:txBody>
          <a:bodyPr wrap="square" tIns="54864" bIns="54864" rtlCol="0" anchor="ctr"/>
          <a:lstStyle/>
          <a:p>
            <a:pPr algn="ctr"/>
            <a:r>
              <a:rPr sz="1400" b="1" i="0">
                <a:solidFill>
                  <a:srgbClr val="0B7A80"/>
                </a:solidFill>
                <a:latin typeface="Arial"/>
              </a:rPr>
              <a:t>✕  </a:t>
            </a:r>
            <a:r>
              <a:rPr sz="1400" b="1" i="0">
                <a:solidFill>
                  <a:srgbClr val="C62828"/>
                </a:solidFill>
                <a:latin typeface="Arial"/>
              </a:rPr>
              <a:t>BLOCK</a:t>
            </a:r>
          </a:p>
          <a:p>
            <a:pPr algn="ctr"/>
            <a:endParaRPr sz="1400" b="1" i="0">
              <a:solidFill>
                <a:srgbClr val="C62828"/>
              </a:solidFill>
              <a:latin typeface="Arial"/>
            </a:endParaRPr>
          </a:p>
        </p:txBody>
      </p:sp>
      <p:sp>
        <p:nvSpPr>
          <p:cNvPr id="178" name="Rounded Rectangle 177"/>
          <p:cNvSpPr/>
          <p:nvPr/>
        </p:nvSpPr>
        <p:spPr>
          <a:xfrm>
            <a:off x="14721840" y="6080760"/>
            <a:ext cx="2560320" cy="777240"/>
          </a:xfrm>
          <a:prstGeom prst="roundRect">
            <a:avLst>
              <a:gd name="adj" fmla="val 8000"/>
            </a:avLst>
          </a:prstGeom>
          <a:solidFill>
            <a:srgbClr val="FFFFFF"/>
          </a:solidFill>
          <a:ln w="12700">
            <a:solidFill>
              <a:srgbClr val="C9DAE3"/>
            </a:solidFill>
          </a:ln>
          <a:effectLst/>
        </p:spPr>
        <p:txBody>
          <a:bodyPr wrap="square" lIns="109728" tIns="65836" rIns="109728" bIns="65836" rtlCol="0" anchor="ctr"/>
          <a:lstStyle/>
          <a:p>
            <a:pPr algn="ctr"/>
            <a:r>
              <a:rPr sz="1300" b="1" i="0">
                <a:solidFill>
                  <a:srgbClr val="1E7B4F"/>
                </a:solidFill>
                <a:latin typeface="Arial"/>
              </a:rPr>
              <a:t>tools/call forwarded</a:t>
            </a:r>
          </a:p>
        </p:txBody>
      </p:sp>
      <p:sp>
        <p:nvSpPr>
          <p:cNvPr id="179" name="Rounded Rectangle 178"/>
          <p:cNvSpPr/>
          <p:nvPr/>
        </p:nvSpPr>
        <p:spPr>
          <a:xfrm>
            <a:off x="14721840" y="7040880"/>
            <a:ext cx="2560320" cy="777240"/>
          </a:xfrm>
          <a:prstGeom prst="roundRect">
            <a:avLst>
              <a:gd name="adj" fmla="val 8000"/>
            </a:avLst>
          </a:prstGeom>
          <a:solidFill>
            <a:srgbClr val="FFFFFF"/>
          </a:solidFill>
          <a:ln w="12700">
            <a:solidFill>
              <a:srgbClr val="C9DAE3"/>
            </a:solidFill>
          </a:ln>
          <a:effectLst/>
        </p:spPr>
        <p:txBody>
          <a:bodyPr wrap="square" lIns="54864" tIns="32918" rIns="54864" bIns="32918" rtlCol="0" anchor="ctr"/>
          <a:lstStyle/>
          <a:p>
            <a:pPr algn="ctr"/>
            <a:r>
              <a:rPr sz="1250" b="1" i="0">
                <a:solidFill>
                  <a:srgbClr val="C62828"/>
                </a:solidFill>
                <a:latin typeface="Arial"/>
              </a:rPr>
              <a:t>APPROVAL INVALID + diff in UI</a:t>
            </a:r>
          </a:p>
        </p:txBody>
      </p:sp>
      <p:cxnSp>
        <p:nvCxnSpPr>
          <p:cNvPr id="180" name="Connector 179"/>
          <p:cNvCxnSpPr/>
          <p:nvPr/>
        </p:nvCxnSpPr>
        <p:spPr>
          <a:xfrm>
            <a:off x="3314700" y="6949440"/>
            <a:ext cx="891540" cy="0"/>
          </a:xfrm>
          <a:prstGeom prst="line">
            <a:avLst/>
          </a:prstGeom>
          <a:ln w="25400">
            <a:solidFill>
              <a:srgbClr val="0B7A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1" name="TextBox 180"/>
          <p:cNvSpPr txBox="1"/>
          <p:nvPr/>
        </p:nvSpPr>
        <p:spPr>
          <a:xfrm>
            <a:off x="3314700" y="6601968"/>
            <a:ext cx="891540" cy="274320"/>
          </a:xfrm>
          <a:prstGeom prst="rect">
            <a:avLst/>
          </a:prstGeom>
          <a:noFill/>
        </p:spPr>
        <p:txBody>
          <a:bodyPr wrap="square" lIns="0" tIns="0" rIns="0" bIns="0" anchor="t">
            <a:spAutoFit/>
          </a:bodyPr>
          <a:lstStyle/>
          <a:p>
            <a:pPr algn="ctr"/>
            <a:r>
              <a:rPr sz="1050" b="0" i="0">
                <a:solidFill>
                  <a:srgbClr val="5B6F82"/>
                </a:solidFill>
                <a:latin typeface="Courier New"/>
              </a:rPr>
              <a:t>request</a:t>
            </a:r>
          </a:p>
        </p:txBody>
      </p:sp>
      <p:cxnSp>
        <p:nvCxnSpPr>
          <p:cNvPr id="182" name="Connector 181"/>
          <p:cNvCxnSpPr/>
          <p:nvPr/>
        </p:nvCxnSpPr>
        <p:spPr>
          <a:xfrm>
            <a:off x="2834640" y="4023360"/>
            <a:ext cx="1691640" cy="2377440"/>
          </a:xfrm>
          <a:prstGeom prst="line">
            <a:avLst/>
          </a:prstGeom>
          <a:ln w="25400">
            <a:solidFill>
              <a:srgbClr val="5B6F82"/>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183" name="TextBox 182"/>
          <p:cNvSpPr txBox="1"/>
          <p:nvPr/>
        </p:nvSpPr>
        <p:spPr>
          <a:xfrm>
            <a:off x="1188720" y="4983480"/>
            <a:ext cx="3291840" cy="274320"/>
          </a:xfrm>
          <a:prstGeom prst="rect">
            <a:avLst/>
          </a:prstGeom>
          <a:noFill/>
        </p:spPr>
        <p:txBody>
          <a:bodyPr wrap="square" lIns="0" tIns="0" rIns="0" bIns="0" anchor="t">
            <a:spAutoFit/>
          </a:bodyPr>
          <a:lstStyle/>
          <a:p>
            <a:pPr algn="l"/>
            <a:r>
              <a:rPr sz="1050" b="0" i="0">
                <a:solidFill>
                  <a:srgbClr val="5B6F82"/>
                </a:solidFill>
                <a:latin typeface="Courier New"/>
              </a:rPr>
              <a:t>live definition, fetched now</a:t>
            </a:r>
          </a:p>
        </p:txBody>
      </p:sp>
      <p:cxnSp>
        <p:nvCxnSpPr>
          <p:cNvPr id="184" name="Connector 183"/>
          <p:cNvCxnSpPr/>
          <p:nvPr/>
        </p:nvCxnSpPr>
        <p:spPr>
          <a:xfrm>
            <a:off x="6812280" y="6949440"/>
            <a:ext cx="868680" cy="0"/>
          </a:xfrm>
          <a:prstGeom prst="line">
            <a:avLst/>
          </a:prstGeom>
          <a:ln w="25400">
            <a:solidFill>
              <a:srgbClr val="0B7A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5" name="TextBox 184"/>
          <p:cNvSpPr txBox="1"/>
          <p:nvPr/>
        </p:nvSpPr>
        <p:spPr>
          <a:xfrm>
            <a:off x="6812280" y="6601968"/>
            <a:ext cx="868680" cy="274320"/>
          </a:xfrm>
          <a:prstGeom prst="rect">
            <a:avLst/>
          </a:prstGeom>
          <a:noFill/>
        </p:spPr>
        <p:txBody>
          <a:bodyPr wrap="square" lIns="0" tIns="0" rIns="0" bIns="0" anchor="t">
            <a:spAutoFit/>
          </a:bodyPr>
          <a:lstStyle/>
          <a:p>
            <a:pPr algn="ctr"/>
            <a:r>
              <a:rPr sz="1050" b="0" i="0">
                <a:solidFill>
                  <a:srgbClr val="5B6F82"/>
                </a:solidFill>
                <a:latin typeface="Courier New"/>
              </a:rPr>
              <a:t>hash</a:t>
            </a:r>
          </a:p>
        </p:txBody>
      </p:sp>
      <p:cxnSp>
        <p:nvCxnSpPr>
          <p:cNvPr id="186" name="Connector 185"/>
          <p:cNvCxnSpPr/>
          <p:nvPr/>
        </p:nvCxnSpPr>
        <p:spPr>
          <a:xfrm>
            <a:off x="8983980" y="5394960"/>
            <a:ext cx="0" cy="1005840"/>
          </a:xfrm>
          <a:prstGeom prst="line">
            <a:avLst/>
          </a:prstGeom>
          <a:ln w="25400">
            <a:solidFill>
              <a:srgbClr val="0B7A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7" name="TextBox 186"/>
          <p:cNvSpPr txBox="1"/>
          <p:nvPr/>
        </p:nvSpPr>
        <p:spPr>
          <a:xfrm>
            <a:off x="9098280" y="5760720"/>
            <a:ext cx="2194560" cy="274320"/>
          </a:xfrm>
          <a:prstGeom prst="rect">
            <a:avLst/>
          </a:prstGeom>
          <a:noFill/>
        </p:spPr>
        <p:txBody>
          <a:bodyPr wrap="square" lIns="0" tIns="0" rIns="0" bIns="0" anchor="t">
            <a:spAutoFit/>
          </a:bodyPr>
          <a:lstStyle/>
          <a:p>
            <a:pPr algn="l"/>
            <a:r>
              <a:rPr sz="1050" b="0" i="0">
                <a:solidFill>
                  <a:srgbClr val="5B6F82"/>
                </a:solidFill>
                <a:latin typeface="Courier New"/>
              </a:rPr>
              <a:t>approved hash</a:t>
            </a:r>
          </a:p>
        </p:txBody>
      </p:sp>
      <p:cxnSp>
        <p:nvCxnSpPr>
          <p:cNvPr id="188" name="Connector 187"/>
          <p:cNvCxnSpPr/>
          <p:nvPr/>
        </p:nvCxnSpPr>
        <p:spPr>
          <a:xfrm flipV="1">
            <a:off x="10287000" y="6469380"/>
            <a:ext cx="868680" cy="297180"/>
          </a:xfrm>
          <a:prstGeom prst="line">
            <a:avLst/>
          </a:prstGeom>
          <a:ln w="25400">
            <a:solidFill>
              <a:srgbClr val="1E7B4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9" name="Connector 188"/>
          <p:cNvCxnSpPr/>
          <p:nvPr/>
        </p:nvCxnSpPr>
        <p:spPr>
          <a:xfrm>
            <a:off x="10287000" y="7132320"/>
            <a:ext cx="868680" cy="297180"/>
          </a:xfrm>
          <a:prstGeom prst="line">
            <a:avLst/>
          </a:prstGeom>
          <a:ln w="25400">
            <a:solidFill>
              <a:srgbClr val="C6282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90" name="Connector 189"/>
          <p:cNvCxnSpPr/>
          <p:nvPr/>
        </p:nvCxnSpPr>
        <p:spPr>
          <a:xfrm>
            <a:off x="13853160" y="6469380"/>
            <a:ext cx="868680" cy="0"/>
          </a:xfrm>
          <a:prstGeom prst="line">
            <a:avLst/>
          </a:prstGeom>
          <a:ln w="25400">
            <a:solidFill>
              <a:srgbClr val="1E7B4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91" name="Connector 190"/>
          <p:cNvCxnSpPr/>
          <p:nvPr/>
        </p:nvCxnSpPr>
        <p:spPr>
          <a:xfrm>
            <a:off x="13853160" y="7429500"/>
            <a:ext cx="868680" cy="0"/>
          </a:xfrm>
          <a:prstGeom prst="line">
            <a:avLst/>
          </a:prstGeom>
          <a:ln w="25400">
            <a:solidFill>
              <a:srgbClr val="C6282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2" name="TextBox 191"/>
          <p:cNvSpPr txBox="1"/>
          <p:nvPr/>
        </p:nvSpPr>
        <p:spPr>
          <a:xfrm>
            <a:off x="1028700" y="8458200"/>
            <a:ext cx="3657600" cy="274320"/>
          </a:xfrm>
          <a:prstGeom prst="rect">
            <a:avLst/>
          </a:prstGeom>
          <a:noFill/>
        </p:spPr>
        <p:txBody>
          <a:bodyPr wrap="square" lIns="0" tIns="0" rIns="0" bIns="0" anchor="t">
            <a:spAutoFit/>
          </a:bodyPr>
          <a:lstStyle/>
          <a:p>
            <a:pPr algn="l"/>
            <a:r>
              <a:rPr sz="1300" b="1" i="0">
                <a:solidFill>
                  <a:srgbClr val="0B7A80"/>
                </a:solidFill>
                <a:latin typeface="Arial"/>
              </a:rPr>
              <a:t>TOOL TRUST STATES</a:t>
            </a:r>
          </a:p>
        </p:txBody>
      </p:sp>
      <p:sp>
        <p:nvSpPr>
          <p:cNvPr id="193" name="Rounded Rectangle 192"/>
          <p:cNvSpPr/>
          <p:nvPr/>
        </p:nvSpPr>
        <p:spPr>
          <a:xfrm>
            <a:off x="1028700" y="8823960"/>
            <a:ext cx="1874519" cy="548640"/>
          </a:xfrm>
          <a:prstGeom prst="roundRect">
            <a:avLst>
              <a:gd name="adj" fmla="val 30000"/>
            </a:avLst>
          </a:prstGeom>
          <a:solidFill>
            <a:srgbClr val="EEF2F5"/>
          </a:solidFill>
          <a:ln w="12700">
            <a:solidFill>
              <a:srgbClr val="5B6F82"/>
            </a:solidFill>
          </a:ln>
          <a:effectLst/>
        </p:spPr>
        <p:txBody>
          <a:bodyPr wrap="square" lIns="27432" tIns="16459" rIns="27432" bIns="16459" rtlCol="0" anchor="ctr"/>
          <a:lstStyle/>
          <a:p>
            <a:pPr algn="ctr"/>
            <a:r>
              <a:rPr sz="1300" b="1" i="0">
                <a:solidFill>
                  <a:srgbClr val="5B6F82"/>
                </a:solidFill>
                <a:latin typeface="Arial"/>
              </a:rPr>
              <a:t>DISCOVERED</a:t>
            </a:r>
          </a:p>
        </p:txBody>
      </p:sp>
      <p:cxnSp>
        <p:nvCxnSpPr>
          <p:cNvPr id="194" name="Connector 193"/>
          <p:cNvCxnSpPr/>
          <p:nvPr/>
        </p:nvCxnSpPr>
        <p:spPr>
          <a:xfrm>
            <a:off x="2948939" y="9098280"/>
            <a:ext cx="320040" cy="0"/>
          </a:xfrm>
          <a:prstGeom prst="line">
            <a:avLst/>
          </a:prstGeom>
          <a:ln w="19050">
            <a:solidFill>
              <a:srgbClr val="5B6F8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5" name="Rounded Rectangle 194"/>
          <p:cNvSpPr/>
          <p:nvPr/>
        </p:nvSpPr>
        <p:spPr>
          <a:xfrm>
            <a:off x="3314700" y="8823960"/>
            <a:ext cx="1874519" cy="548640"/>
          </a:xfrm>
          <a:prstGeom prst="roundRect">
            <a:avLst>
              <a:gd name="adj" fmla="val 30000"/>
            </a:avLst>
          </a:prstGeom>
          <a:solidFill>
            <a:srgbClr val="FFF3DF"/>
          </a:solidFill>
          <a:ln w="12700">
            <a:solidFill>
              <a:srgbClr val="A85F00"/>
            </a:solidFill>
          </a:ln>
          <a:effectLst/>
        </p:spPr>
        <p:txBody>
          <a:bodyPr wrap="square" lIns="27432" tIns="16459" rIns="27432" bIns="16459" rtlCol="0" anchor="ctr"/>
          <a:lstStyle/>
          <a:p>
            <a:pPr algn="ctr"/>
            <a:r>
              <a:rPr sz="1300" b="1" i="0">
                <a:solidFill>
                  <a:srgbClr val="A85F00"/>
                </a:solidFill>
                <a:latin typeface="Arial"/>
              </a:rPr>
              <a:t>REVIEW</a:t>
            </a:r>
          </a:p>
        </p:txBody>
      </p:sp>
      <p:cxnSp>
        <p:nvCxnSpPr>
          <p:cNvPr id="196" name="Connector 195"/>
          <p:cNvCxnSpPr/>
          <p:nvPr/>
        </p:nvCxnSpPr>
        <p:spPr>
          <a:xfrm>
            <a:off x="5234940" y="9098280"/>
            <a:ext cx="320040" cy="0"/>
          </a:xfrm>
          <a:prstGeom prst="line">
            <a:avLst/>
          </a:prstGeom>
          <a:ln w="19050">
            <a:solidFill>
              <a:srgbClr val="5B6F8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7" name="Rounded Rectangle 196"/>
          <p:cNvSpPr/>
          <p:nvPr/>
        </p:nvSpPr>
        <p:spPr>
          <a:xfrm>
            <a:off x="5600700" y="8823960"/>
            <a:ext cx="1874519" cy="548640"/>
          </a:xfrm>
          <a:prstGeom prst="roundRect">
            <a:avLst>
              <a:gd name="adj" fmla="val 30000"/>
            </a:avLst>
          </a:prstGeom>
          <a:solidFill>
            <a:srgbClr val="E6F5EE"/>
          </a:solidFill>
          <a:ln w="12700">
            <a:solidFill>
              <a:srgbClr val="1E7B4F"/>
            </a:solidFill>
          </a:ln>
          <a:effectLst/>
        </p:spPr>
        <p:txBody>
          <a:bodyPr wrap="square" lIns="27432" tIns="16459" rIns="27432" bIns="16459" rtlCol="0" anchor="ctr"/>
          <a:lstStyle/>
          <a:p>
            <a:pPr algn="ctr"/>
            <a:r>
              <a:rPr sz="1300" b="1" i="0">
                <a:solidFill>
                  <a:srgbClr val="1E7B4F"/>
                </a:solidFill>
                <a:latin typeface="Arial"/>
              </a:rPr>
              <a:t>TRUSTED</a:t>
            </a:r>
          </a:p>
        </p:txBody>
      </p:sp>
      <p:cxnSp>
        <p:nvCxnSpPr>
          <p:cNvPr id="198" name="Connector 197"/>
          <p:cNvCxnSpPr/>
          <p:nvPr/>
        </p:nvCxnSpPr>
        <p:spPr>
          <a:xfrm>
            <a:off x="7520940" y="9098280"/>
            <a:ext cx="320040" cy="0"/>
          </a:xfrm>
          <a:prstGeom prst="line">
            <a:avLst/>
          </a:prstGeom>
          <a:ln w="19050">
            <a:solidFill>
              <a:srgbClr val="5B6F8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9" name="Rounded Rectangle 198"/>
          <p:cNvSpPr/>
          <p:nvPr/>
        </p:nvSpPr>
        <p:spPr>
          <a:xfrm>
            <a:off x="7886700" y="8823960"/>
            <a:ext cx="1874519" cy="548640"/>
          </a:xfrm>
          <a:prstGeom prst="roundRect">
            <a:avLst>
              <a:gd name="adj" fmla="val 30000"/>
            </a:avLst>
          </a:prstGeom>
          <a:solidFill>
            <a:srgbClr val="F0EBFA"/>
          </a:solidFill>
          <a:ln w="12700">
            <a:solidFill>
              <a:srgbClr val="5E3FA3"/>
            </a:solidFill>
          </a:ln>
          <a:effectLst/>
        </p:spPr>
        <p:txBody>
          <a:bodyPr wrap="square" lIns="27432" tIns="16459" rIns="27432" bIns="16459" rtlCol="0" anchor="ctr"/>
          <a:lstStyle/>
          <a:p>
            <a:pPr algn="ctr"/>
            <a:r>
              <a:rPr sz="1300" b="1" i="0">
                <a:solidFill>
                  <a:srgbClr val="5E3FA3"/>
                </a:solidFill>
                <a:latin typeface="Arial"/>
              </a:rPr>
              <a:t>STALE</a:t>
            </a:r>
          </a:p>
        </p:txBody>
      </p:sp>
      <p:cxnSp>
        <p:nvCxnSpPr>
          <p:cNvPr id="200" name="Connector 199"/>
          <p:cNvCxnSpPr/>
          <p:nvPr/>
        </p:nvCxnSpPr>
        <p:spPr>
          <a:xfrm>
            <a:off x="9806940" y="9098280"/>
            <a:ext cx="320040" cy="0"/>
          </a:xfrm>
          <a:prstGeom prst="line">
            <a:avLst/>
          </a:prstGeom>
          <a:ln w="19050">
            <a:solidFill>
              <a:srgbClr val="5B6F82"/>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1" name="Rounded Rectangle 200"/>
          <p:cNvSpPr/>
          <p:nvPr/>
        </p:nvSpPr>
        <p:spPr>
          <a:xfrm>
            <a:off x="10172700" y="8823960"/>
            <a:ext cx="1874519" cy="548640"/>
          </a:xfrm>
          <a:prstGeom prst="roundRect">
            <a:avLst>
              <a:gd name="adj" fmla="val 30000"/>
            </a:avLst>
          </a:prstGeom>
          <a:solidFill>
            <a:srgbClr val="FFF3DF"/>
          </a:solidFill>
          <a:ln w="12700">
            <a:solidFill>
              <a:srgbClr val="A85F00"/>
            </a:solidFill>
          </a:ln>
          <a:effectLst/>
        </p:spPr>
        <p:txBody>
          <a:bodyPr wrap="square" lIns="27432" tIns="16459" rIns="27432" bIns="16459" rtlCol="0" anchor="ctr"/>
          <a:lstStyle/>
          <a:p>
            <a:pPr algn="ctr"/>
            <a:r>
              <a:rPr sz="1300" b="1" i="0">
                <a:solidFill>
                  <a:srgbClr val="A85F00"/>
                </a:solidFill>
                <a:latin typeface="Arial"/>
              </a:rPr>
              <a:t>REVIEW</a:t>
            </a:r>
          </a:p>
        </p:txBody>
      </p:sp>
      <p:sp>
        <p:nvSpPr>
          <p:cNvPr id="202" name="Rounded Rectangle 201"/>
          <p:cNvSpPr/>
          <p:nvPr/>
        </p:nvSpPr>
        <p:spPr>
          <a:xfrm>
            <a:off x="12595860" y="8823960"/>
            <a:ext cx="1874519" cy="548640"/>
          </a:xfrm>
          <a:prstGeom prst="roundRect">
            <a:avLst>
              <a:gd name="adj" fmla="val 30000"/>
            </a:avLst>
          </a:prstGeom>
          <a:solidFill>
            <a:srgbClr val="FDECEC"/>
          </a:solidFill>
          <a:ln w="12700">
            <a:solidFill>
              <a:srgbClr val="C62828"/>
            </a:solidFill>
          </a:ln>
          <a:effectLst/>
        </p:spPr>
        <p:txBody>
          <a:bodyPr wrap="square" lIns="27432" tIns="16459" rIns="27432" bIns="16459" rtlCol="0" anchor="ctr"/>
          <a:lstStyle/>
          <a:p>
            <a:pPr algn="ctr"/>
            <a:r>
              <a:rPr sz="1300" b="1" i="0">
                <a:solidFill>
                  <a:srgbClr val="C62828"/>
                </a:solidFill>
                <a:latin typeface="Arial"/>
              </a:rPr>
              <a:t>BLOCKED</a:t>
            </a:r>
          </a:p>
        </p:txBody>
      </p:sp>
      <p:sp>
        <p:nvSpPr>
          <p:cNvPr id="203" name="TextBox 202"/>
          <p:cNvSpPr txBox="1"/>
          <p:nvPr/>
        </p:nvSpPr>
        <p:spPr>
          <a:xfrm>
            <a:off x="14653259" y="8732520"/>
            <a:ext cx="2628900" cy="731520"/>
          </a:xfrm>
          <a:prstGeom prst="rect">
            <a:avLst/>
          </a:prstGeom>
          <a:noFill/>
        </p:spPr>
        <p:txBody>
          <a:bodyPr wrap="square" lIns="0" tIns="0" rIns="0" bIns="0" anchor="ctr">
            <a:spAutoFit/>
          </a:bodyPr>
          <a:lstStyle/>
          <a:p>
            <a:pPr algn="l"/>
            <a:r>
              <a:rPr sz="1200" b="0" i="0">
                <a:solidFill>
                  <a:srgbClr val="5B6F82"/>
                </a:solidFill>
                <a:latin typeface="Arial"/>
              </a:rPr>
              <a:t>Terminal for that fingerprint; only a new version returns to REVIEW.</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6"/>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l="-7180" t="-19076" r="-3000" b="-11427"/>
            </a:stretch>
          </a:blipFill>
          <a:ln>
            <a:noFill/>
          </a:ln>
        </p:spPr>
        <p:txBody>
          <a:bodyPr/>
          <a:lstStyle/>
          <a:p>
            <a:endParaRPr/>
          </a:p>
        </p:txBody>
      </p:sp>
      <p:sp>
        <p:nvSpPr>
          <p:cNvPr id="153" name="Google Shape;153;p6"/>
          <p:cNvSpPr/>
          <p:nvPr/>
        </p:nvSpPr>
        <p:spPr>
          <a:xfrm>
            <a:off x="5317038" y="-4518398"/>
            <a:ext cx="22188662" cy="18920878"/>
          </a:xfrm>
          <a:custGeom>
            <a:avLst/>
            <a:gdLst/>
            <a:ahLst/>
            <a:cxnLst/>
            <a:rect l="l" t="t" r="r" b="b"/>
            <a:pathLst>
              <a:path w="22188662" h="18920878" extrusionOk="0">
                <a:moveTo>
                  <a:pt x="0" y="0"/>
                </a:moveTo>
                <a:lnTo>
                  <a:pt x="22188663" y="0"/>
                </a:lnTo>
                <a:lnTo>
                  <a:pt x="22188663" y="18920878"/>
                </a:lnTo>
                <a:lnTo>
                  <a:pt x="0" y="18920878"/>
                </a:lnTo>
                <a:lnTo>
                  <a:pt x="0" y="0"/>
                </a:lnTo>
                <a:close/>
              </a:path>
            </a:pathLst>
          </a:custGeom>
          <a:blipFill rotWithShape="1">
            <a:blip r:embed="rId4">
              <a:alphaModFix/>
            </a:blip>
            <a:stretch>
              <a:fillRect/>
            </a:stretch>
          </a:blipFill>
          <a:ln>
            <a:noFill/>
          </a:ln>
        </p:spPr>
        <p:txBody>
          <a:bodyPr/>
          <a:lstStyle/>
          <a:p>
            <a:endParaRPr/>
          </a:p>
        </p:txBody>
      </p:sp>
      <p:sp>
        <p:nvSpPr>
          <p:cNvPr id="154" name="Google Shape;154;p6"/>
          <p:cNvSpPr txBox="1"/>
          <p:nvPr/>
        </p:nvSpPr>
        <p:spPr>
          <a:xfrm>
            <a:off x="1028700" y="866775"/>
            <a:ext cx="16276320" cy="1498167"/>
          </a:xfrm>
          <a:prstGeom prst="rect">
            <a:avLst/>
          </a:prstGeom>
          <a:noFill/>
          <a:ln>
            <a:noFill/>
          </a:ln>
        </p:spPr>
        <p:txBody>
          <a:bodyPr spcFirstLastPara="1" wrap="square" lIns="0" tIns="0" rIns="0" bIns="0" anchor="t" anchorCtr="0">
            <a:spAutoFit/>
          </a:bodyPr>
          <a:lstStyle/>
          <a:p>
            <a:pPr marL="0" marR="0" lvl="0" indent="0" algn="l" rtl="0">
              <a:lnSpc>
                <a:spcPct val="119992"/>
              </a:lnSpc>
              <a:spcBef>
                <a:spcPts val="0"/>
              </a:spcBef>
              <a:spcAft>
                <a:spcPts val="0"/>
              </a:spcAft>
              <a:buNone/>
            </a:pPr>
            <a:r>
              <a:rPr lang="en-US" sz="8113" b="0" i="0" u="none" strike="noStrike" cap="none" dirty="0" smtClean="0">
                <a:solidFill>
                  <a:srgbClr val="5DE0E6"/>
                </a:solidFill>
                <a:latin typeface="Times"/>
                <a:ea typeface="Times"/>
                <a:cs typeface="Times"/>
                <a:sym typeface="Times"/>
              </a:rPr>
              <a:t>Demo </a:t>
            </a:r>
            <a:r>
              <a:rPr lang="en-US" sz="8113" b="0" i="0" u="none" strike="noStrike" cap="none" dirty="0">
                <a:solidFill>
                  <a:srgbClr val="5DE0E6"/>
                </a:solidFill>
                <a:latin typeface="Times"/>
                <a:ea typeface="Times"/>
                <a:cs typeface="Times"/>
                <a:sym typeface="Times"/>
              </a:rPr>
              <a:t>of </a:t>
            </a:r>
            <a:r>
              <a:rPr lang="en-US" sz="8113" b="0" i="0" u="none" strike="noStrike" cap="none" dirty="0" smtClean="0">
                <a:solidFill>
                  <a:srgbClr val="5DE0E6"/>
                </a:solidFill>
                <a:latin typeface="Times"/>
                <a:ea typeface="Times"/>
                <a:cs typeface="Times"/>
                <a:sym typeface="Times"/>
              </a:rPr>
              <a:t>our Project</a:t>
            </a:r>
            <a:endParaRPr dirty="0"/>
          </a:p>
        </p:txBody>
      </p:sp>
      <p:sp>
        <p:nvSpPr>
          <p:cNvPr id="155" name="TextBox 154"/>
          <p:cNvSpPr txBox="1"/>
          <p:nvPr/>
        </p:nvSpPr>
        <p:spPr>
          <a:xfrm>
            <a:off x="1028700" y="2377440"/>
            <a:ext cx="9464040" cy="365760"/>
          </a:xfrm>
          <a:prstGeom prst="rect">
            <a:avLst/>
          </a:prstGeom>
          <a:noFill/>
        </p:spPr>
        <p:txBody>
          <a:bodyPr wrap="square" lIns="0" tIns="0" rIns="0" bIns="0" anchor="t">
            <a:spAutoFit/>
          </a:bodyPr>
          <a:lstStyle/>
          <a:p>
            <a:pPr algn="l"/>
            <a:r>
              <a:rPr sz="1600" b="1" i="0">
                <a:solidFill>
                  <a:srgbClr val="0B7A80"/>
                </a:solidFill>
                <a:latin typeface="Arial"/>
              </a:rPr>
              <a:t>A  </a:t>
            </a:r>
            <a:r>
              <a:rPr sz="1600" b="1" i="0">
                <a:solidFill>
                  <a:srgbClr val="0F2A3D"/>
                </a:solidFill>
                <a:latin typeface="Arial"/>
              </a:rPr>
              <a:t>The gap: what you see vs what the model receives</a:t>
            </a:r>
          </a:p>
        </p:txBody>
      </p:sp>
      <p:pic>
        <p:nvPicPr>
          <p:cNvPr id="156" name="Picture 155" descr="A_gap_c.png"/>
          <p:cNvPicPr>
            <a:picLocks noChangeAspect="1"/>
          </p:cNvPicPr>
          <p:nvPr/>
        </p:nvPicPr>
        <p:blipFill>
          <a:blip r:embed="rId5"/>
          <a:stretch>
            <a:fillRect/>
          </a:stretch>
        </p:blipFill>
        <p:spPr>
          <a:xfrm>
            <a:off x="1028700" y="2788920"/>
            <a:ext cx="9464040" cy="4315010"/>
          </a:xfrm>
          <a:prstGeom prst="rect">
            <a:avLst/>
          </a:prstGeom>
          <a:effectLst>
            <a:outerShdw blurRad="254000" dist="63500" dir="5400000" algn="t" rotWithShape="0">
              <a:srgbClr val="0F2A3D">
                <a:alpha val="32000"/>
              </a:srgbClr>
            </a:outerShdw>
          </a:effectLst>
        </p:spPr>
      </p:pic>
      <p:sp>
        <p:nvSpPr>
          <p:cNvPr id="157" name="TextBox 156"/>
          <p:cNvSpPr txBox="1"/>
          <p:nvPr/>
        </p:nvSpPr>
        <p:spPr>
          <a:xfrm>
            <a:off x="10927080" y="2377440"/>
            <a:ext cx="6355080" cy="365760"/>
          </a:xfrm>
          <a:prstGeom prst="rect">
            <a:avLst/>
          </a:prstGeom>
          <a:noFill/>
        </p:spPr>
        <p:txBody>
          <a:bodyPr wrap="square" lIns="0" tIns="0" rIns="0" bIns="0" anchor="t">
            <a:spAutoFit/>
          </a:bodyPr>
          <a:lstStyle/>
          <a:p>
            <a:pPr algn="l"/>
            <a:r>
              <a:rPr sz="1600" b="1" i="0">
                <a:solidFill>
                  <a:srgbClr val="0B7A80"/>
                </a:solidFill>
                <a:latin typeface="Arial"/>
              </a:rPr>
              <a:t>B  </a:t>
            </a:r>
            <a:r>
              <a:rPr sz="1600" b="1" i="0">
                <a:solidFill>
                  <a:srgbClr val="0F2A3D"/>
                </a:solidFill>
                <a:latin typeface="Arial"/>
              </a:rPr>
              <a:t>The block: attack fails before execution</a:t>
            </a:r>
          </a:p>
        </p:txBody>
      </p:sp>
      <p:pic>
        <p:nvPicPr>
          <p:cNvPr id="158" name="Picture 157" descr="B_block_c.png"/>
          <p:cNvPicPr>
            <a:picLocks noChangeAspect="1"/>
          </p:cNvPicPr>
          <p:nvPr/>
        </p:nvPicPr>
        <p:blipFill>
          <a:blip r:embed="rId6"/>
          <a:stretch>
            <a:fillRect/>
          </a:stretch>
        </p:blipFill>
        <p:spPr>
          <a:xfrm>
            <a:off x="10927080" y="2788920"/>
            <a:ext cx="6355080" cy="2542032"/>
          </a:xfrm>
          <a:prstGeom prst="rect">
            <a:avLst/>
          </a:prstGeom>
          <a:effectLst>
            <a:outerShdw blurRad="254000" dist="63500" dir="5400000" algn="t" rotWithShape="0">
              <a:srgbClr val="0F2A3D">
                <a:alpha val="32000"/>
              </a:srgbClr>
            </a:outerShdw>
          </a:effectLst>
        </p:spPr>
      </p:pic>
      <p:sp>
        <p:nvSpPr>
          <p:cNvPr id="159" name="TextBox 158"/>
          <p:cNvSpPr txBox="1"/>
          <p:nvPr/>
        </p:nvSpPr>
        <p:spPr>
          <a:xfrm>
            <a:off x="10927080" y="5605272"/>
            <a:ext cx="6355080" cy="365760"/>
          </a:xfrm>
          <a:prstGeom prst="rect">
            <a:avLst/>
          </a:prstGeom>
          <a:noFill/>
        </p:spPr>
        <p:txBody>
          <a:bodyPr wrap="square" lIns="0" tIns="0" rIns="0" bIns="0" anchor="t">
            <a:spAutoFit/>
          </a:bodyPr>
          <a:lstStyle/>
          <a:p>
            <a:pPr algn="l"/>
            <a:r>
              <a:rPr sz="1600" b="1" i="0">
                <a:solidFill>
                  <a:srgbClr val="0B7A80"/>
                </a:solidFill>
                <a:latin typeface="Arial"/>
              </a:rPr>
              <a:t>C  </a:t>
            </a:r>
            <a:r>
              <a:rPr sz="1600" b="1" i="0">
                <a:solidFill>
                  <a:srgbClr val="0F2A3D"/>
                </a:solidFill>
                <a:latin typeface="Arial"/>
              </a:rPr>
              <a:t>The rug pull: approval revoked on drift</a:t>
            </a:r>
          </a:p>
        </p:txBody>
      </p:sp>
      <p:pic>
        <p:nvPicPr>
          <p:cNvPr id="160" name="Picture 159" descr="C_rugpull_c.png"/>
          <p:cNvPicPr>
            <a:picLocks noChangeAspect="1"/>
          </p:cNvPicPr>
          <p:nvPr/>
        </p:nvPicPr>
        <p:blipFill>
          <a:blip r:embed="rId7"/>
          <a:stretch>
            <a:fillRect/>
          </a:stretch>
        </p:blipFill>
        <p:spPr>
          <a:xfrm>
            <a:off x="10927080" y="6016752"/>
            <a:ext cx="6355080" cy="2716796"/>
          </a:xfrm>
          <a:prstGeom prst="rect">
            <a:avLst/>
          </a:prstGeom>
          <a:effectLst>
            <a:outerShdw blurRad="254000" dist="63500" dir="5400000" algn="t" rotWithShape="0">
              <a:srgbClr val="0F2A3D">
                <a:alpha val="32000"/>
              </a:srgbClr>
            </a:outerShdw>
          </a:effectLst>
        </p:spPr>
      </p:pic>
      <p:sp>
        <p:nvSpPr>
          <p:cNvPr id="161" name="TextBox 160"/>
          <p:cNvSpPr txBox="1"/>
          <p:nvPr/>
        </p:nvSpPr>
        <p:spPr>
          <a:xfrm>
            <a:off x="1028700" y="7332530"/>
            <a:ext cx="9464040" cy="200055"/>
          </a:xfrm>
          <a:prstGeom prst="rect">
            <a:avLst/>
          </a:prstGeom>
          <a:noFill/>
        </p:spPr>
        <p:txBody>
          <a:bodyPr wrap="square" lIns="0" tIns="0" rIns="0" bIns="0" anchor="t">
            <a:spAutoFit/>
          </a:bodyPr>
          <a:lstStyle/>
          <a:p>
            <a:pPr algn="l"/>
            <a:r>
              <a:rPr sz="1300" b="1" i="0" dirty="0">
                <a:solidFill>
                  <a:srgbClr val="5B6F82"/>
                </a:solidFill>
                <a:latin typeface="Arial"/>
              </a:rPr>
              <a:t>Prototype UI mockups </a:t>
            </a:r>
            <a:r>
              <a:rPr sz="1300" b="0" i="0" dirty="0">
                <a:solidFill>
                  <a:srgbClr val="5B6F82"/>
                </a:solidFill>
                <a:latin typeface="Arial"/>
              </a:rPr>
              <a:t>built from our design spec</a:t>
            </a:r>
            <a:r>
              <a:rPr sz="1300" b="0" i="0" dirty="0" smtClean="0">
                <a:solidFill>
                  <a:srgbClr val="5B6F82"/>
                </a:solidFill>
                <a:latin typeface="Arial"/>
              </a:rPr>
              <a:t>. </a:t>
            </a:r>
            <a:r>
              <a:rPr sz="1300" b="0" i="0" dirty="0">
                <a:solidFill>
                  <a:srgbClr val="5B6F82"/>
                </a:solidFill>
                <a:latin typeface="Arial"/>
              </a:rPr>
              <a:t>All secrets and endpoints are mock data</a:t>
            </a:r>
            <a:r>
              <a:rPr sz="1300" b="0" i="0" dirty="0" smtClean="0">
                <a:solidFill>
                  <a:srgbClr val="5B6F82"/>
                </a:solidFill>
                <a:latin typeface="Arial"/>
              </a:rPr>
              <a:t>.</a:t>
            </a:r>
            <a:r>
              <a:rPr lang="en-IN" sz="1300" b="0" i="0" dirty="0" smtClean="0">
                <a:solidFill>
                  <a:srgbClr val="5B6F82"/>
                </a:solidFill>
                <a:latin typeface="Arial"/>
              </a:rPr>
              <a:t> The product might change later.</a:t>
            </a:r>
            <a:endParaRPr sz="1300" b="0" i="0" dirty="0">
              <a:solidFill>
                <a:srgbClr val="5B6F82"/>
              </a:solidFill>
              <a:latin typeface="Arial"/>
            </a:endParaRPr>
          </a:p>
        </p:txBody>
      </p:sp>
      <p:sp>
        <p:nvSpPr>
          <p:cNvPr id="162" name="Rounded Rectangle 161"/>
          <p:cNvSpPr/>
          <p:nvPr/>
        </p:nvSpPr>
        <p:spPr>
          <a:xfrm>
            <a:off x="1028700" y="8246930"/>
            <a:ext cx="2468880" cy="548640"/>
          </a:xfrm>
          <a:prstGeom prst="roundRect">
            <a:avLst>
              <a:gd name="adj" fmla="val 30000"/>
            </a:avLst>
          </a:prstGeom>
          <a:solidFill>
            <a:srgbClr val="E6F5EE"/>
          </a:solidFill>
          <a:ln w="12700">
            <a:solidFill>
              <a:srgbClr val="1E7B4F"/>
            </a:solidFill>
          </a:ln>
          <a:effectLst/>
        </p:spPr>
        <p:txBody>
          <a:bodyPr wrap="square" lIns="45720" tIns="27432" rIns="45720" bIns="27432" rtlCol="0" anchor="ctr"/>
          <a:lstStyle/>
          <a:p>
            <a:pPr algn="ctr"/>
            <a:r>
              <a:rPr sz="1300" b="1" i="0">
                <a:solidFill>
                  <a:srgbClr val="1E7B4F"/>
                </a:solidFill>
                <a:latin typeface="Arial"/>
              </a:rPr>
              <a:t>Identical on screen</a:t>
            </a:r>
          </a:p>
        </p:txBody>
      </p:sp>
      <p:sp>
        <p:nvSpPr>
          <p:cNvPr id="163" name="Rounded Rectangle 162"/>
          <p:cNvSpPr/>
          <p:nvPr/>
        </p:nvSpPr>
        <p:spPr>
          <a:xfrm>
            <a:off x="3680460" y="8246930"/>
            <a:ext cx="2788920" cy="548640"/>
          </a:xfrm>
          <a:prstGeom prst="roundRect">
            <a:avLst>
              <a:gd name="adj" fmla="val 30000"/>
            </a:avLst>
          </a:prstGeom>
          <a:solidFill>
            <a:srgbClr val="F0EBFA"/>
          </a:solidFill>
          <a:ln w="12700">
            <a:solidFill>
              <a:srgbClr val="5E3FA3"/>
            </a:solidFill>
          </a:ln>
          <a:effectLst/>
        </p:spPr>
        <p:txBody>
          <a:bodyPr wrap="square" lIns="45720" tIns="27432" rIns="45720" bIns="27432" rtlCol="0" anchor="ctr"/>
          <a:lstStyle/>
          <a:p>
            <a:pPr algn="ctr"/>
            <a:r>
              <a:rPr sz="1300" b="1" i="0">
                <a:solidFill>
                  <a:srgbClr val="5E3FA3"/>
                </a:solidFill>
                <a:latin typeface="Arial"/>
              </a:rPr>
              <a:t>98 hidden chars decoded</a:t>
            </a:r>
          </a:p>
        </p:txBody>
      </p:sp>
      <p:sp>
        <p:nvSpPr>
          <p:cNvPr id="164" name="Rounded Rectangle 163"/>
          <p:cNvSpPr/>
          <p:nvPr/>
        </p:nvSpPr>
        <p:spPr>
          <a:xfrm>
            <a:off x="6652260" y="8246930"/>
            <a:ext cx="3840480" cy="548640"/>
          </a:xfrm>
          <a:prstGeom prst="roundRect">
            <a:avLst>
              <a:gd name="adj" fmla="val 30000"/>
            </a:avLst>
          </a:prstGeom>
          <a:solidFill>
            <a:srgbClr val="FDECEC"/>
          </a:solidFill>
          <a:ln w="12700">
            <a:solidFill>
              <a:srgbClr val="C62828"/>
            </a:solidFill>
          </a:ln>
          <a:effectLst/>
        </p:spPr>
        <p:txBody>
          <a:bodyPr wrap="square" lIns="45720" tIns="27432" rIns="45720" bIns="27432" rtlCol="0" anchor="ctr"/>
          <a:lstStyle/>
          <a:p>
            <a:pPr algn="ctr"/>
            <a:r>
              <a:rPr sz="1300" b="1" i="0">
                <a:solidFill>
                  <a:srgbClr val="C62828"/>
                </a:solidFill>
                <a:latin typeface="Arial"/>
              </a:rPr>
              <a:t>Blocked by scanner rules, not LLM opinion</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7"/>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l="-7180" t="-19076" r="-3000" b="-11427"/>
            </a:stretch>
          </a:blipFill>
          <a:ln>
            <a:noFill/>
          </a:ln>
        </p:spPr>
        <p:txBody>
          <a:bodyPr/>
          <a:lstStyle/>
          <a:p>
            <a:endParaRPr/>
          </a:p>
        </p:txBody>
      </p:sp>
      <p:sp>
        <p:nvSpPr>
          <p:cNvPr id="160" name="Google Shape;160;p7"/>
          <p:cNvSpPr/>
          <p:nvPr/>
        </p:nvSpPr>
        <p:spPr>
          <a:xfrm>
            <a:off x="5317038" y="-4518398"/>
            <a:ext cx="22188662" cy="18920878"/>
          </a:xfrm>
          <a:custGeom>
            <a:avLst/>
            <a:gdLst/>
            <a:ahLst/>
            <a:cxnLst/>
            <a:rect l="l" t="t" r="r" b="b"/>
            <a:pathLst>
              <a:path w="22188662" h="18920878" extrusionOk="0">
                <a:moveTo>
                  <a:pt x="0" y="0"/>
                </a:moveTo>
                <a:lnTo>
                  <a:pt x="22188663" y="0"/>
                </a:lnTo>
                <a:lnTo>
                  <a:pt x="22188663" y="18920878"/>
                </a:lnTo>
                <a:lnTo>
                  <a:pt x="0" y="18920878"/>
                </a:lnTo>
                <a:lnTo>
                  <a:pt x="0" y="0"/>
                </a:lnTo>
                <a:close/>
              </a:path>
            </a:pathLst>
          </a:custGeom>
          <a:blipFill rotWithShape="1">
            <a:blip r:embed="rId4">
              <a:alphaModFix/>
            </a:blip>
            <a:stretch>
              <a:fillRect/>
            </a:stretch>
          </a:blipFill>
          <a:ln>
            <a:noFill/>
          </a:ln>
        </p:spPr>
        <p:txBody>
          <a:bodyPr/>
          <a:lstStyle/>
          <a:p>
            <a:endParaRPr/>
          </a:p>
        </p:txBody>
      </p:sp>
      <p:sp>
        <p:nvSpPr>
          <p:cNvPr id="161" name="Google Shape;161;p7"/>
          <p:cNvSpPr txBox="1"/>
          <p:nvPr/>
        </p:nvSpPr>
        <p:spPr>
          <a:xfrm>
            <a:off x="1028700" y="866775"/>
            <a:ext cx="5533771" cy="1393326"/>
          </a:xfrm>
          <a:prstGeom prst="rect">
            <a:avLst/>
          </a:prstGeom>
          <a:noFill/>
          <a:ln>
            <a:noFill/>
          </a:ln>
        </p:spPr>
        <p:txBody>
          <a:bodyPr spcFirstLastPara="1" wrap="square" lIns="0" tIns="0" rIns="0" bIns="0" anchor="t" anchorCtr="0">
            <a:spAutoFit/>
          </a:bodyPr>
          <a:lstStyle/>
          <a:p>
            <a:pPr marL="0" marR="0" lvl="0" indent="0" algn="l" rtl="0">
              <a:lnSpc>
                <a:spcPct val="119992"/>
              </a:lnSpc>
              <a:spcBef>
                <a:spcPts val="0"/>
              </a:spcBef>
              <a:spcAft>
                <a:spcPts val="0"/>
              </a:spcAft>
              <a:buNone/>
            </a:pPr>
            <a:r>
              <a:rPr lang="en-US" sz="8113" b="0" i="0" u="none" strike="noStrike" cap="none">
                <a:solidFill>
                  <a:srgbClr val="5DE0E6"/>
                </a:solidFill>
                <a:latin typeface="Times"/>
                <a:ea typeface="Times"/>
                <a:cs typeface="Times"/>
                <a:sym typeface="Times"/>
              </a:rPr>
              <a:t>Others</a:t>
            </a:r>
            <a:endParaRPr/>
          </a:p>
        </p:txBody>
      </p:sp>
      <p:sp>
        <p:nvSpPr>
          <p:cNvPr id="162" name="Rounded Rectangle 161"/>
          <p:cNvSpPr/>
          <p:nvPr/>
        </p:nvSpPr>
        <p:spPr>
          <a:xfrm>
            <a:off x="1028700" y="2514600"/>
            <a:ext cx="5120640" cy="5349240"/>
          </a:xfrm>
          <a:prstGeom prst="roundRect">
            <a:avLst>
              <a:gd name="adj" fmla="val 4000"/>
            </a:avLst>
          </a:prstGeom>
          <a:solidFill>
            <a:srgbClr val="FFFFFF"/>
          </a:solidFill>
          <a:ln w="12700">
            <a:solidFill>
              <a:srgbClr val="C9DAE3"/>
            </a:solidFill>
          </a:ln>
          <a:effectLst>
            <a:outerShdw blurRad="190500" dist="38100" dir="5400000" algn="t" rotWithShape="0">
              <a:srgbClr val="0F2A3D">
                <a:alpha val="14000"/>
              </a:srgbClr>
            </a:outerShdw>
          </a:effectLst>
        </p:spPr>
        <p:txBody>
          <a:bodyPr wrap="square" lIns="109728" tIns="65836" rIns="109728" bIns="65836" rtlCol="0" anchor="ctr"/>
          <a:lstStyle/>
          <a:p>
            <a:pPr algn="ctr"/>
            <a:endParaRPr/>
          </a:p>
        </p:txBody>
      </p:sp>
      <p:sp>
        <p:nvSpPr>
          <p:cNvPr id="163" name="Oval 162"/>
          <p:cNvSpPr/>
          <p:nvPr/>
        </p:nvSpPr>
        <p:spPr>
          <a:xfrm>
            <a:off x="1348740" y="2788920"/>
            <a:ext cx="502920" cy="502920"/>
          </a:xfrm>
          <a:prstGeom prst="ellipse">
            <a:avLst/>
          </a:prstGeom>
          <a:solidFill>
            <a:srgbClr val="0B7A80"/>
          </a:solidFill>
          <a:ln>
            <a:noFill/>
          </a:ln>
          <a:effectLst/>
        </p:spPr>
        <p:txBody>
          <a:bodyPr wrap="square" lIns="0" tIns="0" rIns="0" bIns="0" rtlCol="0" anchor="ctr"/>
          <a:lstStyle/>
          <a:p>
            <a:pPr algn="ctr"/>
            <a:r>
              <a:rPr sz="1700" b="1" i="0">
                <a:solidFill>
                  <a:srgbClr val="FFFFFF"/>
                </a:solidFill>
                <a:latin typeface="Arial"/>
              </a:rPr>
              <a:t>1</a:t>
            </a:r>
          </a:p>
        </p:txBody>
      </p:sp>
      <p:sp>
        <p:nvSpPr>
          <p:cNvPr id="165" name="TextBox 164"/>
          <p:cNvSpPr txBox="1"/>
          <p:nvPr/>
        </p:nvSpPr>
        <p:spPr>
          <a:xfrm>
            <a:off x="1348740" y="3566160"/>
            <a:ext cx="4480559" cy="5029200"/>
          </a:xfrm>
          <a:prstGeom prst="rect">
            <a:avLst/>
          </a:prstGeom>
          <a:noFill/>
        </p:spPr>
        <p:txBody>
          <a:bodyPr wrap="square" lIns="0" tIns="0" rIns="0" bIns="0" anchor="t">
            <a:spAutoFit/>
          </a:bodyPr>
          <a:lstStyle/>
          <a:p>
            <a:pPr algn="l">
              <a:spcAft>
                <a:spcPts val="800"/>
              </a:spcAft>
            </a:pPr>
            <a:r>
              <a:rPr sz="1600" b="0" i="0">
                <a:solidFill>
                  <a:srgbClr val="33475B"/>
                </a:solidFill>
                <a:latin typeface="Arial"/>
              </a:rPr>
              <a:t>Gateways already filter, fingerprint and intercept. We don't claim those primitives.</a:t>
            </a:r>
          </a:p>
          <a:p>
            <a:pPr algn="l">
              <a:spcAft>
                <a:spcPts val="800"/>
              </a:spcAft>
            </a:pPr>
            <a:r>
              <a:rPr sz="1600" b="1" i="0">
                <a:solidFill>
                  <a:srgbClr val="0F2A3D"/>
                </a:solidFill>
                <a:latin typeface="Arial"/>
              </a:rPr>
              <a:t>Our angle: </a:t>
            </a:r>
            <a:r>
              <a:rPr sz="1600" b="0" i="0">
                <a:solidFill>
                  <a:srgbClr val="33475B"/>
                </a:solidFill>
                <a:latin typeface="Arial"/>
              </a:rPr>
              <a:t>make the approved object itself explicit and verifiable.</a:t>
            </a:r>
          </a:p>
          <a:p>
            <a:pPr algn="l">
              <a:spcAft>
                <a:spcPts val="800"/>
              </a:spcAft>
            </a:pPr>
            <a:r>
              <a:rPr sz="1600" b="0" i="0">
                <a:solidFill>
                  <a:srgbClr val="33475B"/>
                </a:solidFill>
                <a:latin typeface="Arial"/>
              </a:rPr>
              <a:t>• exact model-visible representation</a:t>
            </a:r>
          </a:p>
          <a:p>
            <a:pPr algn="l">
              <a:spcAft>
                <a:spcPts val="800"/>
              </a:spcAft>
            </a:pPr>
            <a:r>
              <a:rPr sz="1600" b="0" i="0">
                <a:solidFill>
                  <a:srgbClr val="33475B"/>
                </a:solidFill>
                <a:latin typeface="Arial"/>
              </a:rPr>
              <a:t>• human view derived from that same object</a:t>
            </a:r>
          </a:p>
          <a:p>
            <a:pPr algn="l">
              <a:spcAft>
                <a:spcPts val="800"/>
              </a:spcAft>
            </a:pPr>
            <a:r>
              <a:rPr sz="1600" b="0" i="0">
                <a:solidFill>
                  <a:srgbClr val="33475B"/>
                </a:solidFill>
                <a:latin typeface="Arial"/>
              </a:rPr>
              <a:t>• deterministic + semantic analysis of it</a:t>
            </a:r>
          </a:p>
          <a:p>
            <a:pPr algn="l">
              <a:spcAft>
                <a:spcPts val="800"/>
              </a:spcAft>
            </a:pPr>
            <a:r>
              <a:rPr sz="1600" b="0" i="0">
                <a:solidFill>
                  <a:srgbClr val="33475B"/>
                </a:solidFill>
                <a:latin typeface="Arial"/>
              </a:rPr>
              <a:t>• cryptographic approval binding</a:t>
            </a:r>
          </a:p>
          <a:p>
            <a:pPr algn="l">
              <a:spcAft>
                <a:spcPts val="800"/>
              </a:spcAft>
            </a:pPr>
            <a:r>
              <a:rPr sz="1600" b="0" i="0">
                <a:solidFill>
                  <a:srgbClr val="33475B"/>
                </a:solidFill>
                <a:latin typeface="Arial"/>
              </a:rPr>
              <a:t>• call-time revalidation</a:t>
            </a:r>
          </a:p>
          <a:p>
            <a:pPr algn="l">
              <a:spcAft>
                <a:spcPts val="800"/>
              </a:spcAft>
            </a:pPr>
            <a:r>
              <a:rPr sz="1600" b="1" i="0">
                <a:solidFill>
                  <a:srgbClr val="0F2A3D"/>
                </a:solidFill>
                <a:latin typeface="Arial"/>
              </a:rPr>
              <a:t>Category: </a:t>
            </a:r>
            <a:r>
              <a:rPr sz="1600" b="0" i="0">
                <a:solidFill>
                  <a:srgbClr val="33475B"/>
                </a:solidFill>
                <a:latin typeface="Arial"/>
              </a:rPr>
              <a:t>Agent Approval Integrity. It complements a gateway rather than replacing one.</a:t>
            </a:r>
          </a:p>
        </p:txBody>
      </p:sp>
      <p:sp>
        <p:nvSpPr>
          <p:cNvPr id="166" name="Rounded Rectangle 165"/>
          <p:cNvSpPr/>
          <p:nvPr/>
        </p:nvSpPr>
        <p:spPr>
          <a:xfrm>
            <a:off x="6583679" y="2514600"/>
            <a:ext cx="5120640" cy="5349240"/>
          </a:xfrm>
          <a:prstGeom prst="roundRect">
            <a:avLst>
              <a:gd name="adj" fmla="val 4000"/>
            </a:avLst>
          </a:prstGeom>
          <a:solidFill>
            <a:srgbClr val="FFFFFF"/>
          </a:solidFill>
          <a:ln w="12700">
            <a:solidFill>
              <a:srgbClr val="C9DAE3"/>
            </a:solidFill>
          </a:ln>
          <a:effectLst>
            <a:outerShdw blurRad="190500" dist="38100" dir="5400000" algn="t" rotWithShape="0">
              <a:srgbClr val="0F2A3D">
                <a:alpha val="14000"/>
              </a:srgbClr>
            </a:outerShdw>
          </a:effectLst>
        </p:spPr>
        <p:txBody>
          <a:bodyPr wrap="square" lIns="109728" tIns="65836" rIns="109728" bIns="65836" rtlCol="0" anchor="ctr"/>
          <a:lstStyle/>
          <a:p>
            <a:pPr algn="ctr"/>
            <a:endParaRPr/>
          </a:p>
        </p:txBody>
      </p:sp>
      <p:sp>
        <p:nvSpPr>
          <p:cNvPr id="167" name="Oval 166"/>
          <p:cNvSpPr/>
          <p:nvPr/>
        </p:nvSpPr>
        <p:spPr>
          <a:xfrm>
            <a:off x="6903719" y="2788920"/>
            <a:ext cx="502920" cy="502920"/>
          </a:xfrm>
          <a:prstGeom prst="ellipse">
            <a:avLst/>
          </a:prstGeom>
          <a:solidFill>
            <a:srgbClr val="0B7A80"/>
          </a:solidFill>
          <a:ln>
            <a:noFill/>
          </a:ln>
          <a:effectLst/>
        </p:spPr>
        <p:txBody>
          <a:bodyPr wrap="square" lIns="0" tIns="0" rIns="0" bIns="0" rtlCol="0" anchor="ctr"/>
          <a:lstStyle/>
          <a:p>
            <a:pPr algn="ctr"/>
            <a:r>
              <a:rPr sz="1700" b="1" i="0">
                <a:solidFill>
                  <a:srgbClr val="FFFFFF"/>
                </a:solidFill>
                <a:latin typeface="Arial"/>
              </a:rPr>
              <a:t>2</a:t>
            </a:r>
          </a:p>
        </p:txBody>
      </p:sp>
      <p:sp>
        <p:nvSpPr>
          <p:cNvPr id="169" name="TextBox 168"/>
          <p:cNvSpPr txBox="1"/>
          <p:nvPr/>
        </p:nvSpPr>
        <p:spPr>
          <a:xfrm>
            <a:off x="6903719" y="3566160"/>
            <a:ext cx="4480559" cy="5029200"/>
          </a:xfrm>
          <a:prstGeom prst="rect">
            <a:avLst/>
          </a:prstGeom>
          <a:noFill/>
        </p:spPr>
        <p:txBody>
          <a:bodyPr wrap="square" lIns="0" tIns="0" rIns="0" bIns="0" anchor="t">
            <a:spAutoFit/>
          </a:bodyPr>
          <a:lstStyle/>
          <a:p>
            <a:pPr algn="l">
              <a:spcAft>
                <a:spcPts val="800"/>
              </a:spcAft>
            </a:pPr>
            <a:r>
              <a:rPr sz="1600" b="1" i="0">
                <a:solidFill>
                  <a:srgbClr val="0F2A3D"/>
                </a:solidFill>
                <a:latin typeface="Arial"/>
              </a:rPr>
              <a:t>Three sets, frozen before tuning:</a:t>
            </a:r>
          </a:p>
          <a:p>
            <a:pPr algn="l">
              <a:spcAft>
                <a:spcPts val="800"/>
              </a:spcAft>
            </a:pPr>
            <a:r>
              <a:rPr sz="1600" b="0" i="0">
                <a:solidFill>
                  <a:srgbClr val="33475B"/>
                </a:solidFill>
                <a:latin typeface="Arial"/>
              </a:rPr>
              <a:t>• Authored: ~10 poisoned, 15 benign, 5 rug-pull</a:t>
            </a:r>
          </a:p>
          <a:p>
            <a:pPr algn="l">
              <a:spcAft>
                <a:spcPts val="800"/>
              </a:spcAft>
            </a:pPr>
            <a:r>
              <a:rPr sz="1600" b="0" i="0">
                <a:solidFill>
                  <a:srgbClr val="33475B"/>
                </a:solidFill>
                <a:latin typeface="Arial"/>
              </a:rPr>
              <a:t>• Public held-out: published attack samples, each sourced</a:t>
            </a:r>
          </a:p>
          <a:p>
            <a:pPr algn="l">
              <a:spcAft>
                <a:spcPts val="800"/>
              </a:spcAft>
            </a:pPr>
            <a:r>
              <a:rPr sz="1600" b="0" i="0">
                <a:solidFill>
                  <a:srgbClr val="33475B"/>
                </a:solidFill>
                <a:latin typeface="Arial"/>
              </a:rPr>
              <a:t>• Evasive: homoglyphs, invisible chars, multilingual, split across fields</a:t>
            </a:r>
          </a:p>
          <a:p>
            <a:pPr algn="l">
              <a:spcAft>
                <a:spcPts val="800"/>
              </a:spcAft>
            </a:pPr>
            <a:r>
              <a:rPr sz="1600" b="1" i="0">
                <a:solidFill>
                  <a:srgbClr val="0F2A3D"/>
                </a:solidFill>
                <a:latin typeface="Arial"/>
              </a:rPr>
              <a:t>Reported for scanner-only vs LLM-only vs combined:</a:t>
            </a:r>
          </a:p>
          <a:p>
            <a:pPr algn="l">
              <a:spcAft>
                <a:spcPts val="800"/>
              </a:spcAft>
            </a:pPr>
            <a:r>
              <a:rPr sz="1600" b="0" i="0">
                <a:solidFill>
                  <a:srgbClr val="33475B"/>
                </a:solidFill>
                <a:latin typeface="Arial"/>
              </a:rPr>
              <a:t>recall, benign acceptance, false-positive rate, p50/p95 latency.</a:t>
            </a:r>
          </a:p>
          <a:p>
            <a:pPr algn="l">
              <a:spcAft>
                <a:spcPts val="800"/>
              </a:spcAft>
            </a:pPr>
            <a:r>
              <a:rPr sz="1600" b="0" i="1">
                <a:solidFill>
                  <a:srgbClr val="33475B"/>
                </a:solidFill>
                <a:latin typeface="Arial"/>
              </a:rPr>
              <a:t>We show real false negatives on stage instead of hiding them.</a:t>
            </a:r>
          </a:p>
        </p:txBody>
      </p:sp>
      <p:sp>
        <p:nvSpPr>
          <p:cNvPr id="170" name="Rounded Rectangle 169"/>
          <p:cNvSpPr/>
          <p:nvPr/>
        </p:nvSpPr>
        <p:spPr>
          <a:xfrm>
            <a:off x="12138659" y="2514600"/>
            <a:ext cx="5120640" cy="5349240"/>
          </a:xfrm>
          <a:prstGeom prst="roundRect">
            <a:avLst>
              <a:gd name="adj" fmla="val 4000"/>
            </a:avLst>
          </a:prstGeom>
          <a:solidFill>
            <a:srgbClr val="FFFFFF"/>
          </a:solidFill>
          <a:ln w="12700">
            <a:solidFill>
              <a:srgbClr val="C9DAE3"/>
            </a:solidFill>
          </a:ln>
          <a:effectLst>
            <a:outerShdw blurRad="190500" dist="38100" dir="5400000" algn="t" rotWithShape="0">
              <a:srgbClr val="0F2A3D">
                <a:alpha val="14000"/>
              </a:srgbClr>
            </a:outerShdw>
          </a:effectLst>
        </p:spPr>
        <p:txBody>
          <a:bodyPr wrap="square" lIns="109728" tIns="65836" rIns="109728" bIns="65836" rtlCol="0" anchor="ctr"/>
          <a:lstStyle/>
          <a:p>
            <a:pPr algn="ctr"/>
            <a:endParaRPr/>
          </a:p>
        </p:txBody>
      </p:sp>
      <p:sp>
        <p:nvSpPr>
          <p:cNvPr id="171" name="Oval 170"/>
          <p:cNvSpPr/>
          <p:nvPr/>
        </p:nvSpPr>
        <p:spPr>
          <a:xfrm>
            <a:off x="12458699" y="2788920"/>
            <a:ext cx="502920" cy="502920"/>
          </a:xfrm>
          <a:prstGeom prst="ellipse">
            <a:avLst/>
          </a:prstGeom>
          <a:solidFill>
            <a:srgbClr val="0B7A80"/>
          </a:solidFill>
          <a:ln>
            <a:noFill/>
          </a:ln>
          <a:effectLst/>
        </p:spPr>
        <p:txBody>
          <a:bodyPr wrap="square" lIns="0" tIns="0" rIns="0" bIns="0" rtlCol="0" anchor="ctr"/>
          <a:lstStyle/>
          <a:p>
            <a:pPr algn="ctr"/>
            <a:r>
              <a:rPr sz="1700" b="1" i="0">
                <a:solidFill>
                  <a:srgbClr val="FFFFFF"/>
                </a:solidFill>
                <a:latin typeface="Arial"/>
              </a:rPr>
              <a:t>3</a:t>
            </a:r>
          </a:p>
        </p:txBody>
      </p:sp>
      <p:sp>
        <p:nvSpPr>
          <p:cNvPr id="173" name="TextBox 172"/>
          <p:cNvSpPr txBox="1"/>
          <p:nvPr/>
        </p:nvSpPr>
        <p:spPr>
          <a:xfrm>
            <a:off x="12458699" y="3566160"/>
            <a:ext cx="4480559" cy="5029200"/>
          </a:xfrm>
          <a:prstGeom prst="rect">
            <a:avLst/>
          </a:prstGeom>
          <a:noFill/>
        </p:spPr>
        <p:txBody>
          <a:bodyPr wrap="square" lIns="0" tIns="0" rIns="0" bIns="0" anchor="t">
            <a:spAutoFit/>
          </a:bodyPr>
          <a:lstStyle/>
          <a:p>
            <a:pPr algn="l">
              <a:spcAft>
                <a:spcPts val="800"/>
              </a:spcAft>
            </a:pPr>
            <a:r>
              <a:rPr sz="1600" b="1" i="0">
                <a:solidFill>
                  <a:srgbClr val="0F2A3D"/>
                </a:solidFill>
                <a:latin typeface="Arial"/>
              </a:rPr>
              <a:t>Out of scope today:</a:t>
            </a:r>
          </a:p>
          <a:p>
            <a:pPr algn="l">
              <a:spcAft>
                <a:spcPts val="800"/>
              </a:spcAft>
            </a:pPr>
            <a:r>
              <a:rPr sz="1600" b="0" i="0">
                <a:solidFill>
                  <a:srgbClr val="33475B"/>
                </a:solidFill>
                <a:latin typeface="Arial"/>
              </a:rPr>
              <a:t>• malicious server behaviour with an unchanged definition</a:t>
            </a:r>
          </a:p>
          <a:p>
            <a:pPr algn="l">
              <a:spcAft>
                <a:spcPts val="800"/>
              </a:spcAft>
            </a:pPr>
            <a:r>
              <a:rPr sz="1600" b="0" i="0">
                <a:solidFill>
                  <a:srgbClr val="33475B"/>
                </a:solidFill>
                <a:latin typeface="Arial"/>
              </a:rPr>
              <a:t>• instructions arriving in tool results</a:t>
            </a:r>
          </a:p>
          <a:p>
            <a:pPr algn="l">
              <a:spcAft>
                <a:spcPts val="800"/>
              </a:spcAft>
            </a:pPr>
            <a:r>
              <a:rPr sz="1600" b="0" i="0">
                <a:solidFill>
                  <a:srgbClr val="33475B"/>
                </a:solidFill>
                <a:latin typeface="Arial"/>
              </a:rPr>
              <a:t>• clients that bypass the instrumented path</a:t>
            </a:r>
          </a:p>
          <a:p>
            <a:pPr algn="l">
              <a:spcAft>
                <a:spcPts val="800"/>
              </a:spcAft>
            </a:pPr>
            <a:r>
              <a:rPr sz="1600" b="0" i="0">
                <a:solidFill>
                  <a:srgbClr val="33475B"/>
                </a:solidFill>
                <a:latin typeface="Arial"/>
              </a:rPr>
              <a:t>• subtle analyzer misses (scanner + human review mitigate them)</a:t>
            </a:r>
          </a:p>
          <a:p>
            <a:pPr algn="l">
              <a:spcAft>
                <a:spcPts val="800"/>
              </a:spcAft>
            </a:pPr>
            <a:r>
              <a:rPr sz="1600" b="1" i="0">
                <a:solidFill>
                  <a:srgbClr val="0F2A3D"/>
                </a:solidFill>
                <a:latin typeface="Arial"/>
              </a:rPr>
              <a:t>Next:</a:t>
            </a:r>
          </a:p>
          <a:p>
            <a:pPr algn="l">
              <a:spcAft>
                <a:spcPts val="800"/>
              </a:spcAft>
            </a:pPr>
            <a:r>
              <a:rPr sz="1600" b="0" i="0">
                <a:solidFill>
                  <a:srgbClr val="33475B"/>
                </a:solidFill>
                <a:latin typeface="Arial"/>
              </a:rPr>
              <a:t>signed manifests &amp; server provenance · proxy mode for any MCP client · approval expiry · per-request pinning · response-level integrity</a:t>
            </a:r>
          </a:p>
        </p:txBody>
      </p:sp>
      <p:sp>
        <p:nvSpPr>
          <p:cNvPr id="174" name="Rounded Rectangle 173"/>
          <p:cNvSpPr/>
          <p:nvPr/>
        </p:nvSpPr>
        <p:spPr>
          <a:xfrm>
            <a:off x="1028700" y="8183879"/>
            <a:ext cx="16230600" cy="1143000"/>
          </a:xfrm>
          <a:prstGeom prst="roundRect">
            <a:avLst>
              <a:gd name="adj" fmla="val 20000"/>
            </a:avLst>
          </a:prstGeom>
          <a:solidFill>
            <a:srgbClr val="0F2A3D"/>
          </a:solidFill>
          <a:ln>
            <a:noFill/>
          </a:ln>
          <a:effectLst/>
        </p:spPr>
        <p:txBody>
          <a:bodyPr wrap="square" lIns="109728" tIns="65836" rIns="109728" bIns="65836" rtlCol="0" anchor="ctr"/>
          <a:lstStyle/>
          <a:p>
            <a:pPr algn="ctr"/>
            <a:r>
              <a:rPr sz="2000" b="0" i="1" dirty="0">
                <a:solidFill>
                  <a:srgbClr val="FFFFFF"/>
                </a:solidFill>
                <a:latin typeface="Arial"/>
              </a:rPr>
              <a:t>“</a:t>
            </a:r>
            <a:r>
              <a:rPr sz="2000" b="0" i="1" dirty="0" err="1">
                <a:solidFill>
                  <a:srgbClr val="FFFFFF"/>
                </a:solidFill>
                <a:latin typeface="Arial"/>
              </a:rPr>
              <a:t>Filigree</a:t>
            </a:r>
            <a:r>
              <a:rPr sz="2000" b="0" i="1" dirty="0">
                <a:solidFill>
                  <a:srgbClr val="FFFFFF"/>
                </a:solidFill>
                <a:latin typeface="Arial"/>
              </a:rPr>
              <a:t> doesn't ask whether a tool is safe. It verifies the AI can only act on what the human actually approved</a:t>
            </a:r>
            <a:r>
              <a:rPr sz="2000" b="0" i="1" dirty="0" smtClean="0">
                <a:solidFill>
                  <a:srgbClr val="FFFFFF"/>
                </a:solidFill>
                <a:latin typeface="Arial"/>
              </a:rPr>
              <a:t>.</a:t>
            </a:r>
            <a:r>
              <a:rPr lang="en-IN" sz="2000" b="0" i="1" dirty="0" smtClean="0">
                <a:solidFill>
                  <a:srgbClr val="FFFFFF"/>
                </a:solidFill>
                <a:latin typeface="Arial"/>
              </a:rPr>
              <a:t> WYSIWYS.</a:t>
            </a:r>
            <a:r>
              <a:rPr sz="2000" b="0" i="1" dirty="0" smtClean="0">
                <a:solidFill>
                  <a:srgbClr val="FFFFFF"/>
                </a:solidFill>
                <a:latin typeface="Arial"/>
              </a:rPr>
              <a:t>”</a:t>
            </a:r>
            <a:endParaRPr sz="2000" b="0" i="1" dirty="0">
              <a:solidFill>
                <a:srgbClr val="FFFFFF"/>
              </a:solidFill>
              <a:latin typeface="Arial"/>
            </a:endParaRPr>
          </a:p>
          <a:p>
            <a:pPr algn="ctr">
              <a:spcBef>
                <a:spcPts val="800"/>
              </a:spcBef>
            </a:pPr>
            <a:r>
              <a:rPr lang="en-IN" sz="2000" b="0" i="0" u="sng" dirty="0" smtClean="0">
                <a:solidFill>
                  <a:srgbClr val="FFFFFF"/>
                </a:solidFill>
                <a:latin typeface="Arial"/>
                <a:hlinkClick r:id="rId5"/>
              </a:rPr>
              <a:t>https://</a:t>
            </a:r>
            <a:r>
              <a:rPr sz="2000" b="0" i="0" u="sng" dirty="0" smtClean="0">
                <a:solidFill>
                  <a:srgbClr val="FFFFFF"/>
                </a:solidFill>
                <a:latin typeface="Arial"/>
                <a:hlinkClick r:id="rId5"/>
              </a:rPr>
              <a:t>github.com/</a:t>
            </a:r>
            <a:r>
              <a:rPr sz="2000" b="0" i="0" u="sng" dirty="0" err="1" smtClean="0">
                <a:solidFill>
                  <a:srgbClr val="FFFFFF"/>
                </a:solidFill>
                <a:latin typeface="Arial"/>
                <a:hlinkClick r:id="rId5"/>
              </a:rPr>
              <a:t>prathampai</a:t>
            </a:r>
            <a:r>
              <a:rPr sz="2000" b="0" i="0" u="sng" dirty="0" smtClean="0">
                <a:solidFill>
                  <a:srgbClr val="FFFFFF"/>
                </a:solidFill>
                <a:latin typeface="Arial"/>
                <a:hlinkClick r:id="rId5"/>
              </a:rPr>
              <a:t>-college/filigree</a:t>
            </a:r>
            <a:endParaRPr sz="2000" b="0" i="0" u="sng" dirty="0">
              <a:solidFill>
                <a:srgbClr val="FFFFFF"/>
              </a:solidFill>
              <a:latin typeface="Arial"/>
              <a:hlinkClick r:id="rId5"/>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5DE0E6"/>
      </a:hlink>
      <a:folHlink>
        <a:srgbClr val="9FEFF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5DE0E6"/>
      </a:hlink>
      <a:folHlink>
        <a:srgbClr val="9FEFF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TotalTime>
  <Words>1599</Words>
  <Application>Microsoft Office PowerPoint</Application>
  <PresentationFormat>Custom</PresentationFormat>
  <Paragraphs>216</Paragraphs>
  <Slides>7</Slides>
  <Notes>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Calibri</vt:lpstr>
      <vt:lpstr>Times</vt:lpstr>
      <vt:lpstr>Arial</vt:lpstr>
      <vt:lpstr>Courier New</vt:lpstr>
      <vt:lpstr>Playfair Display SemiBold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Pratham Pai</dc:creator>
  <cp:lastModifiedBy>Pratham Pai</cp:lastModifiedBy>
  <cp:revision>10</cp:revision>
  <dcterms:created xsi:type="dcterms:W3CDTF">2006-08-16T00:00:00Z</dcterms:created>
  <dcterms:modified xsi:type="dcterms:W3CDTF">2026-10-05T18:17:30Z</dcterms:modified>
</cp:coreProperties>
</file>